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5" r:id="rId2"/>
    <p:sldId id="293" r:id="rId3"/>
    <p:sldId id="266" r:id="rId4"/>
    <p:sldId id="282" r:id="rId5"/>
    <p:sldId id="283" r:id="rId6"/>
    <p:sldId id="292" r:id="rId7"/>
    <p:sldId id="287" r:id="rId8"/>
    <p:sldId id="288" r:id="rId9"/>
    <p:sldId id="289" r:id="rId10"/>
    <p:sldId id="290" r:id="rId11"/>
    <p:sldId id="284" r:id="rId12"/>
    <p:sldId id="275" r:id="rId13"/>
    <p:sldId id="277" r:id="rId14"/>
    <p:sldId id="278" r:id="rId15"/>
    <p:sldId id="279" r:id="rId16"/>
    <p:sldId id="280" r:id="rId17"/>
    <p:sldId id="28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D55B2-66D3-5348-A6B4-12B51BCC9C72}" v="11" dt="2025-10-30T17:19:48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8"/>
    <p:restoredTop sz="94699"/>
  </p:normalViewPr>
  <p:slideViewPr>
    <p:cSldViewPr snapToGrid="0">
      <p:cViewPr>
        <p:scale>
          <a:sx n="117" d="100"/>
          <a:sy n="117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88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45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58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898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92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935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3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213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164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779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53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5F1ED-1A4D-A840-AA78-3C1A177006CD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2FAE285-48D8-0748-B1E0-B45922539A8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76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A7B9-A1FF-B5BF-81F8-34F0518C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758294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insights and investment strategy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vs budget VARIANCE ANLYSIS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0FC0-0D3C-F338-E32A-22B5A2963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3419"/>
            <a:ext cx="10515600" cy="3053544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                                    </a:t>
            </a:r>
          </a:p>
          <a:p>
            <a:pPr marL="0" indent="0" algn="ctr"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Dr. Uzma Abdullah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256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D0EE-A543-DD18-F1D7-377511E20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D16E6-D001-25CC-4F8B-E0F2F2CA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2005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variance overview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analysis for repair and maintenance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analysis utilities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analysis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investment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2941947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13BB5-6CC0-9F68-3BEB-AFF1F7F2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  <a:b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2C64D-15FC-51F5-E7E4-209A614C5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009"/>
            <a:ext cx="10515600" cy="527295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exceeded expectations with Net Operating Income 63% above budget.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outperformed by $612K (+5%), driven by stronger base rent and lower concessions.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expenses were slightly below budget (-1%), despite higher R&amp;M.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 variance: +$1.95M over budget.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risk: repairs &amp; maintenance overspending.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Overall: A very strong quarter with revenue resilience and disciplined cost control.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1683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D732-C7F9-D99E-D84D-45141F723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518" y="-23811"/>
            <a:ext cx="10515600" cy="958994"/>
          </a:xfrm>
        </p:spPr>
        <p:txBody>
          <a:bodyPr>
            <a:normAutofit fontScale="90000"/>
          </a:bodyPr>
          <a:lstStyle/>
          <a:p>
            <a:pPr algn="ctr"/>
            <a:br>
              <a:rPr lang="en-GB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Income Section</a:t>
            </a:r>
            <a:br>
              <a:rPr lang="en-GB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F585-CBEC-3219-6796-361F3BB3D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5183"/>
            <a:ext cx="10515600" cy="5241780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Rent (+$800,300 / +7%)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 Actual rent collected is higher than budgeted.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 Likely due to stronger leasing performance, fewer vacancies, or higher negotiated rents.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Rent (–$280,000 / –35%)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 Free rent (concessions) given is lower than budgeted.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 Positive impact: tenants accepted fewer incentives than anticipated.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Recoveries (+$92,000 / +17%)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 Higher tenant recoveries for CAM (common area maintenance) and property expenses.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 Indicates higher pass-through costs billed to tenants.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Gross Revenue (+$612,300 / +5%)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 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Overall revenue exceeded budget because of higher rent and recoveries while free rent costs were lower.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963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AF95-C21A-6E1B-7116-09D33717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8700"/>
          </a:xfrm>
        </p:spPr>
        <p:txBody>
          <a:bodyPr>
            <a:normAutofit fontScale="90000"/>
          </a:bodyPr>
          <a:lstStyle/>
          <a:p>
            <a:pPr algn="ctr"/>
            <a:br>
              <a:rPr lang="en-GB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EXPENSES SECTION</a:t>
            </a:r>
            <a:br>
              <a:rPr lang="en-GB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14E57-8C3B-2CF1-E335-AB0ADBA68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1272"/>
            <a:ext cx="10515600" cy="56838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 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pPr marL="0" indent="0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Repairs &amp; Maintenance (R&amp;M) (+$384,100 / +37%)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 Actual maintenance costs significantly exceeded budget.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 Possible causes: unexpected repairs, inflation in material/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accelerated maintenance projects.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Utilities (–$156,000 / –7%)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 Lower than budgeted, indicating savings.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 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Could be from energy efficiency,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favorable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rates, or reduced usage.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dirty="0"/>
              <a:t>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390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71CD7-AE4C-1D8D-01F2-02FFDF63A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2118"/>
            <a:ext cx="10515600" cy="5854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  </a:t>
            </a:r>
          </a:p>
          <a:p>
            <a:pPr marL="0" indent="0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Taxes &amp; Insurance (–$100,000 / –3%)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 Slightly under budget.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May be due to revised assessments, lower premiums, or timing differences.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&amp; Administration (–$89,300 / –17%)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 Below budget, meaning savings in admin or management fees.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Could be staff cost savings or reduced overhead.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Expenses (+$1,018,800 / +14%)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•   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Despite some savings, overspending in R&amp;M drove total expenses over budget.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968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76B4-21B9-4431-08D5-AC9A82658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10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B9D08D-90D5-49EF-3DBC-049E36A418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8892713"/>
              </p:ext>
            </p:extLst>
          </p:nvPr>
        </p:nvGraphicFramePr>
        <p:xfrm>
          <a:off x="1028700" y="1205346"/>
          <a:ext cx="10058400" cy="4753532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147493699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6281647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4959003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39358207"/>
                    </a:ext>
                  </a:extLst>
                </a:gridCol>
              </a:tblGrid>
              <a:tr h="239164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Variance ($)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Variance (%)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98460354"/>
                  </a:ext>
                </a:extLst>
              </a:tr>
              <a:tr h="899529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 Rent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800,300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+7%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 than budget due to stronger leasing performance, fewer vacancies, or higher negotiated rents.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27074892"/>
                  </a:ext>
                </a:extLst>
              </a:tr>
              <a:tr h="757383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 Rent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-280,000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-35%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 concessions than budgeted, indicating tenants accepted fewer incentives.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8630703"/>
                  </a:ext>
                </a:extLst>
              </a:tr>
              <a:tr h="757383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Recoveries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92,000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+17%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 tenant recoveries for CAM and property expenses billed back to tenants.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32179304"/>
                  </a:ext>
                </a:extLst>
              </a:tr>
              <a:tr h="820832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 Gross Revenue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612,300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+5%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 exceeded budget due to higher rent and recoveries, with reduced concessions.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37227024"/>
                  </a:ext>
                </a:extLst>
              </a:tr>
              <a:tr h="899529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Repairs &amp; Maintenance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384,100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+37%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Overspending due to unexpected repairs, inflation in materials/</a:t>
                      </a:r>
                      <a:r>
                        <a:rPr lang="en-GB" sz="160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labor</a:t>
                      </a: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or accelerated maintenance.</a:t>
                      </a:r>
                    </a:p>
                  </a:txBody>
                  <a:tcPr marL="50015" marR="50015" marT="27510" marB="275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24054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316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C3B0D8-453F-92CA-377C-E2B3995BB4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840676"/>
              </p:ext>
            </p:extLst>
          </p:nvPr>
        </p:nvGraphicFramePr>
        <p:xfrm>
          <a:off x="665018" y="633845"/>
          <a:ext cx="10972800" cy="51962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67179014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8171223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95554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12891291"/>
                    </a:ext>
                  </a:extLst>
                </a:gridCol>
              </a:tblGrid>
              <a:tr h="964357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Utilities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-156,000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-7%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 than budget from savings in energy usage, </a:t>
                      </a:r>
                      <a:r>
                        <a:rPr lang="en-GB" sz="180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favorable</a:t>
                      </a: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rates, or efficiency measures.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9167962"/>
                  </a:ext>
                </a:extLst>
              </a:tr>
              <a:tr h="964357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 Taxes &amp; Insurance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-100,000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-3%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 below budget due to lower premiums, revised assessments, or timing differences.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62200239"/>
                  </a:ext>
                </a:extLst>
              </a:tr>
              <a:tr h="964357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Management &amp; Administration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-89,300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-17%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Savings in admin or management fees, reduced overhead, or staff cost savings.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68184626"/>
                  </a:ext>
                </a:extLst>
              </a:tr>
              <a:tr h="964357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 Expenses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1,018,800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+14%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 above budget, driven mainly by overspending in Repairs &amp; Maintenance.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54931073"/>
                  </a:ext>
                </a:extLst>
              </a:tr>
              <a:tr h="955370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 Operating Income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1,953,500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+63%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Significantly above budget due to higher revenues despite higher expenses.</a:t>
                      </a:r>
                    </a:p>
                  </a:txBody>
                  <a:tcPr marL="58802" marR="58802" marT="29401" marB="29401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2">
                            <a:tint val="94000"/>
                            <a:satMod val="80000"/>
                            <a:lumMod val="106000"/>
                          </a:schemeClr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43049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95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0AFF-34BD-6490-1213-24D9740E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1002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VARIANCE GRAPH BY CATEGORY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2D4405-1C98-CFF3-B3C4-807927476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60"/>
                    </a14:imgEffect>
                    <a14:imgEffect>
                      <a14:saturation sat="20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245" y="1226129"/>
            <a:ext cx="8801100" cy="4613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752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2C5C-95ED-DA2C-D6DB-F7F3C6707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0220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VARIANCE (%) BY CATEGORY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529191-D693-90FA-1E72-8DA5A6607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biLevel thresh="75000"/>
            <a:alphaModFix amt="85000"/>
          </a:blip>
          <a:stretch>
            <a:fillRect/>
          </a:stretch>
        </p:blipFill>
        <p:spPr>
          <a:xfrm>
            <a:off x="644237" y="1278083"/>
            <a:ext cx="10709564" cy="436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7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6772-6CA2-4125-D33B-073040CC9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5244F-431D-CC70-83FE-CC68C4CBE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273" y="1705510"/>
            <a:ext cx="10407582" cy="37608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Net Operating Income (NOI) (+$1,953,500 / +63%)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NOI significantly outperformed the budget.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Driven by higher revenues and despite higher expenses, overall profitability was much stronger than expected.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Driven by higher revenues and despite higher expenses, overall profitability was much stronger than expected.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177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1BFF-B712-BC46-1355-511503CFF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218209"/>
            <a:ext cx="9603275" cy="10492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Analysis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Unlevered IRR (5-Year Office Investment)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CBF2C-0F5E-CB78-0B98-67A8B2DAD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4166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Unlevered IRR is the Internal Rate of Return before debt financing i.e., pure equity returns, no loans, only investor return on their own capital financing on property.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Performance &amp; Investment Recommendation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tool that tests how changes in key assumptions affect investment returns.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Sale Year (rows) when property is sold  and Sale Price (columns), at what price its sold, ($65M to $75M)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identify optimal timing and price strategy to maximize IRR.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27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13E3-999F-A92E-3DFE-9F50816F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053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work of financial model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C9203-069F-7EE7-870C-55B573EE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990600"/>
            <a:ext cx="11299370" cy="447574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Purchase Price: $55,000,000 (assumed cost to acquire property, its baseline investment against which sale proceeds and returns are measured.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 Price Range: $65M – $75M ( expected range of resale values tested in model with lower-end market scenario to optimistic upper case, showing uncertainty in future market pricing)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 Years Tested: 1 – 5 ( Investors see the effect of timings on returns)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Debt as % of Acquisition: 60% (assumes 60% of the purchase price is financed with debt loan, while 40% is equity from investors). Effecting levered IRR, higher potential return but higher risk due to interest payments.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Debt Interest Rate: 5% ( the cost of borrowing on the 60% debt portion is $55 M financing on 5% interest rate , low borrowing cost boosts investor return by leveraging equity, but adds risk since debt service payments must be met)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355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6578-E4ED-8583-1492-E5E38086D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5857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Table: Unlevered IRR (%)</a:t>
            </a:r>
            <a:b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7741B7-D517-328E-AB60-704A96B06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954402"/>
              </p:ext>
            </p:extLst>
          </p:nvPr>
        </p:nvGraphicFramePr>
        <p:xfrm>
          <a:off x="1070264" y="2296390"/>
          <a:ext cx="9570025" cy="2670468"/>
        </p:xfrm>
        <a:graphic>
          <a:graphicData uri="http://schemas.openxmlformats.org/drawingml/2006/table">
            <a:tbl>
              <a:tblPr/>
              <a:tblGrid>
                <a:gridCol w="1914005">
                  <a:extLst>
                    <a:ext uri="{9D8B030D-6E8A-4147-A177-3AD203B41FA5}">
                      <a16:colId xmlns:a16="http://schemas.microsoft.com/office/drawing/2014/main" val="717829095"/>
                    </a:ext>
                  </a:extLst>
                </a:gridCol>
                <a:gridCol w="1914005">
                  <a:extLst>
                    <a:ext uri="{9D8B030D-6E8A-4147-A177-3AD203B41FA5}">
                      <a16:colId xmlns:a16="http://schemas.microsoft.com/office/drawing/2014/main" val="3730498381"/>
                    </a:ext>
                  </a:extLst>
                </a:gridCol>
                <a:gridCol w="1914005">
                  <a:extLst>
                    <a:ext uri="{9D8B030D-6E8A-4147-A177-3AD203B41FA5}">
                      <a16:colId xmlns:a16="http://schemas.microsoft.com/office/drawing/2014/main" val="1718141017"/>
                    </a:ext>
                  </a:extLst>
                </a:gridCol>
                <a:gridCol w="1914005">
                  <a:extLst>
                    <a:ext uri="{9D8B030D-6E8A-4147-A177-3AD203B41FA5}">
                      <a16:colId xmlns:a16="http://schemas.microsoft.com/office/drawing/2014/main" val="4195443099"/>
                    </a:ext>
                  </a:extLst>
                </a:gridCol>
                <a:gridCol w="1914005">
                  <a:extLst>
                    <a:ext uri="{9D8B030D-6E8A-4147-A177-3AD203B41FA5}">
                      <a16:colId xmlns:a16="http://schemas.microsoft.com/office/drawing/2014/main" val="715306659"/>
                    </a:ext>
                  </a:extLst>
                </a:gridCol>
              </a:tblGrid>
              <a:tr h="445078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 Year</a:t>
                      </a:r>
                      <a:endParaRPr lang="en-GB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$65M</a:t>
                      </a:r>
                      <a:endParaRPr lang="en-GB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$68M</a:t>
                      </a:r>
                      <a:endParaRPr lang="en-GB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$70M</a:t>
                      </a:r>
                      <a:endParaRPr lang="en-GB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$75M</a:t>
                      </a:r>
                      <a:endParaRPr lang="en-GB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66392234"/>
                  </a:ext>
                </a:extLst>
              </a:tr>
              <a:tr h="445078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 1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38.51%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42.98%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46.00%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53.74%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0074813"/>
                  </a:ext>
                </a:extLst>
              </a:tr>
              <a:tr h="445078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 2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22.08%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24.12%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25.47%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28.81%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91817627"/>
                  </a:ext>
                </a:extLst>
              </a:tr>
              <a:tr h="445078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 3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15.89%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17.23%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18.12%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20.27%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80956730"/>
                  </a:ext>
                </a:extLst>
              </a:tr>
              <a:tr h="445078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 4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12.52%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13.53%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14.19%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15.79%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2229887"/>
                  </a:ext>
                </a:extLst>
              </a:tr>
              <a:tr h="445078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 5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10.37%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11.19%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11.71%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12.99%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ECEAE7"/>
                        </a:gs>
                        <a:gs pos="100000">
                          <a:schemeClr val="bg2">
                            <a:shade val="8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3459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650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D89A-8575-2ABD-24F7-92EF0FF0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46973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F9D94-B471-9B44-FEAD-0DB681AB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1" y="667820"/>
            <a:ext cx="10940554" cy="515109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Sale = Higher IRR e.g., At $70M sale price: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Year1 = 46.0% IRR. Year 5 = 11.7%, </a:t>
            </a:r>
          </a:p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Sooner cash received, higher the value of return (time value of money)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Sale price = Higher IRR: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 Year 3: $65M = 15.9% IRR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$75M = 20.3% IRR   </a:t>
            </a:r>
          </a:p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extra $5-10M in sale price significantly improves returns.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take away Best Case is selling Earlier (Year1 or Year 2 yields very high IRR, Moderate Case is Mid-hold (Year 3) stabilizes the returns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 declines over time – early sales deliver higher returns, Worst Case: Holding until Year 5 drops IRR close to 10-13% even at strong prices.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27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C604-FCC7-4008-2C9B-15A5B0630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b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B5D2A-ABFD-0F12-85D5-F2F1921A5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" y="2015732"/>
            <a:ext cx="11005458" cy="3862554"/>
          </a:xfrm>
        </p:spPr>
        <p:txBody>
          <a:bodyPr>
            <a:normAutofit lnSpcReduction="1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sensitivity table highlights that both sale timings and price matters, but delaying sale erodes IRR significantly even at higher prices.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sale in Year 2 at $75M for 28.81% IRR. Allows early reinvestment of profits into new opportunities and earlier exits deliver stronger investor returns.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Mitigates risk of declining IRR over longer holding periods and suggest holding until market evidence strongly supports much higher prices in future.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54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80B15E-2E64-1EA6-9B33-8A0A44C2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73230"/>
          </a:xfrm>
        </p:spPr>
        <p:txBody>
          <a:bodyPr>
            <a:normAutofit/>
          </a:bodyPr>
          <a:lstStyle/>
          <a:p>
            <a:pPr algn="ctr"/>
            <a:r>
              <a:rPr lang="en-US" sz="4800" b="1">
                <a:latin typeface="ACADEMY ENGRAVED LET PLAIN:1.0" panose="02000000000000000000" pitchFamily="2" charset="0"/>
                <a:cs typeface="APPLE CHANCERY" panose="03020702040506060504" pitchFamily="66" charset="-79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3B1C3-8DC2-6751-AE01-01134B701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1341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{34314B32-3B0E-A849-ADA0-1DC41AC80A41}tf10001119_mac</Template>
  <TotalTime>2665</TotalTime>
  <Words>1304</Words>
  <Application>Microsoft Macintosh PowerPoint</Application>
  <PresentationFormat>Widescreen</PresentationFormat>
  <Paragraphs>182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ACADEMY ENGRAVED LET PLAIN:1.0</vt:lpstr>
      <vt:lpstr>Arial</vt:lpstr>
      <vt:lpstr>Gill Sans MT</vt:lpstr>
      <vt:lpstr>Times New Roman</vt:lpstr>
      <vt:lpstr>Gallery</vt:lpstr>
      <vt:lpstr> financial insights and investment strategy   actual vs budget VARIANCE ANLYSIS   </vt:lpstr>
      <vt:lpstr>Project overview</vt:lpstr>
      <vt:lpstr>Executive Summary </vt:lpstr>
      <vt:lpstr> Income Section </vt:lpstr>
      <vt:lpstr> EXPENSES SECTION </vt:lpstr>
      <vt:lpstr>PowerPoint Presentation</vt:lpstr>
      <vt:lpstr>SUMMARY TABLE</vt:lpstr>
      <vt:lpstr>PowerPoint Presentation</vt:lpstr>
      <vt:lpstr>VARIANCE GRAPH BY CATEGORY</vt:lpstr>
      <vt:lpstr>VARIANCE (%) BY CATEGORY</vt:lpstr>
      <vt:lpstr>SUMMARY</vt:lpstr>
      <vt:lpstr>Sensitivity Analysis  Unlevered IRR (5-Year Office Investment) </vt:lpstr>
      <vt:lpstr>Frame work of financial model </vt:lpstr>
      <vt:lpstr>Sensitivity Table: Unlevered IRR (%) </vt:lpstr>
      <vt:lpstr>SUMMARY </vt:lpstr>
      <vt:lpstr>Recommendation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Uzma Abdullah</dc:creator>
  <cp:lastModifiedBy>Dr. Uzma Abdullah</cp:lastModifiedBy>
  <cp:revision>4</cp:revision>
  <dcterms:created xsi:type="dcterms:W3CDTF">2025-10-28T21:47:45Z</dcterms:created>
  <dcterms:modified xsi:type="dcterms:W3CDTF">2025-10-30T18:13:00Z</dcterms:modified>
</cp:coreProperties>
</file>