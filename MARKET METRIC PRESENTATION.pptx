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olors1.xml" ContentType="application/vnd.ms-office.chartcolorstyle+xml"/>
  <Override PartName="/ppt/charts/style1.xml" ContentType="application/vnd.ms-office.chartstyl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5"/>
  </p:notesMasterIdLst>
  <p:sldIdLst>
    <p:sldId id="256" r:id="rId3"/>
    <p:sldId id="257" r:id="rId4"/>
    <p:sldId id="273" r:id="rId6"/>
    <p:sldId id="274" r:id="rId7"/>
    <p:sldId id="275" r:id="rId8"/>
    <p:sldId id="276" r:id="rId9"/>
    <p:sldId id="277" r:id="rId10"/>
    <p:sldId id="278" r:id="rId11"/>
    <p:sldId id="271" r:id="rId12"/>
    <p:sldId id="258" r:id="rId13"/>
    <p:sldId id="260" r:id="rId14"/>
    <p:sldId id="261" r:id="rId15"/>
    <p:sldId id="262" r:id="rId16"/>
    <p:sldId id="263" r:id="rId17"/>
    <p:sldId id="264" r:id="rId18"/>
    <p:sldId id="269" r:id="rId1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3"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3"/>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notesMaster" Target="notesMasters/notesMaster1.xml"/><Relationship Id="rId4" Type="http://schemas.openxmlformats.org/officeDocument/2006/relationships/slide" Target="slides/slide2.xml"/><Relationship Id="rId3" Type="http://schemas.openxmlformats.org/officeDocument/2006/relationships/slide" Target="slides/slide1.xml"/><Relationship Id="rId22" Type="http://schemas.openxmlformats.org/officeDocument/2006/relationships/tableStyles" Target="tableStyles.xml"/><Relationship Id="rId21" Type="http://schemas.openxmlformats.org/officeDocument/2006/relationships/viewProps" Target="viewProps.xml"/><Relationship Id="rId20" Type="http://schemas.openxmlformats.org/officeDocument/2006/relationships/presProps" Target="presProps.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charts/_rels/chart1.xml.rels><?xml version="1.0" encoding="UTF-8" standalone="yes"?>
<Relationships xmlns="http://schemas.openxmlformats.org/package/2006/relationships"><Relationship Id="rId3" Type="http://schemas.microsoft.com/office/2011/relationships/chartColorStyle" Target="colors1.xml"/><Relationship Id="rId2" Type="http://schemas.microsoft.com/office/2011/relationships/chartStyle" Target="style1.xml"/><Relationship Id="rId1" Type="http://schemas.openxmlformats.org/officeDocument/2006/relationships/oleObject" Target="/Users/uzmaabdullah/Desktop/Market%20Metric%20Presentation%20File.xlsx" TargetMode="External"/></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0" vertOverflow="ellipsis" vert="horz" wrap="square" anchor="ctr" anchorCtr="1"/>
          <a:lstStyle/>
          <a:p>
            <a:pPr defTabSz="914400">
              <a:defRPr lang="en-US" sz="1400" b="1" i="0" u="none" strike="noStrike" kern="1200" baseline="0">
                <a:solidFill>
                  <a:schemeClr val="tx1">
                    <a:lumMod val="75000"/>
                    <a:lumOff val="25000"/>
                  </a:schemeClr>
                </a:solidFill>
                <a:latin typeface="+mn-lt"/>
                <a:ea typeface="+mn-ea"/>
                <a:cs typeface="+mn-cs"/>
              </a:defRPr>
            </a:pPr>
            <a:r>
              <a:t>SUB MARKET METRIC GRAPH</a:t>
            </a:r>
          </a:p>
        </c:rich>
      </c:tx>
      <c:layout>
        <c:manualLayout>
          <c:xMode val="edge"/>
          <c:yMode val="edge"/>
          <c:x val="0.341727535247155"/>
          <c:y val="0.00401123144805455"/>
        </c:manualLayout>
      </c:layout>
      <c:overlay val="0"/>
      <c:spPr>
        <a:noFill/>
        <a:ln>
          <a:noFill/>
        </a:ln>
        <a:effectLst/>
      </c:spPr>
    </c:title>
    <c:autoTitleDeleted val="0"/>
    <c:plotArea>
      <c:layout>
        <c:manualLayout>
          <c:layoutTarget val="inner"/>
          <c:xMode val="edge"/>
          <c:yMode val="edge"/>
          <c:x val="0.209818243587566"/>
          <c:y val="0.0184606368431334"/>
          <c:w val="0.787633769322235"/>
          <c:h val="0.686911506153546"/>
        </c:manualLayout>
      </c:layout>
      <c:barChart>
        <c:barDir val="col"/>
        <c:grouping val="clustered"/>
        <c:varyColors val="0"/>
        <c:ser>
          <c:idx val="0"/>
          <c:order val="0"/>
          <c:tx>
            <c:strRef>
              <c:f>'[Market Metric Presentation File.xlsx]Sheet2'!$A$4</c:f>
              <c:strCache>
                <c:ptCount val="1"/>
                <c:pt idx="0">
                  <c:v>Submarket</c:v>
                </c:pt>
              </c:strCache>
            </c:strRef>
          </c:tx>
          <c:spPr>
            <a:gradFill>
              <a:gsLst>
                <a:gs pos="0">
                  <a:schemeClr val="accent1">
                    <a:lumMod val="40000"/>
                    <a:lumOff val="60000"/>
                  </a:schemeClr>
                </a:gs>
                <a:gs pos="90000">
                  <a:schemeClr val="accent1"/>
                </a:gs>
              </a:gsLst>
              <a:lin ang="5400000" scaled="0"/>
            </a:gradFill>
            <a:ln>
              <a:gradFill>
                <a:gsLst>
                  <a:gs pos="0">
                    <a:schemeClr val="accent1"/>
                  </a:gs>
                  <a:gs pos="100000">
                    <a:schemeClr val="accent1">
                      <a:lumMod val="75000"/>
                    </a:schemeClr>
                  </a:gs>
                </a:gsLst>
                <a:lin ang="5400000" scaled="1"/>
              </a:gradFill>
            </a:ln>
            <a:effectLst>
              <a:outerShdw blurRad="76200" dist="25400" dir="2700000" algn="tl" rotWithShape="0">
                <a:schemeClr val="accent1">
                  <a:lumMod val="50000"/>
                  <a:alpha val="30000"/>
                </a:schemeClr>
              </a:outerShdw>
            </a:effectLst>
          </c:spPr>
          <c:invertIfNegative val="0"/>
          <c:dLbls>
            <c:delete val="1"/>
          </c:dLbls>
          <c:cat>
            <c:strRef>
              <c:f>'[Market Metric Presentation File.xlsx]Sheet2'!$B$3:$S$3</c:f>
              <c:strCache>
                <c:ptCount val="18"/>
                <c:pt idx="0">
                  <c:v>Market Size</c:v>
                </c:pt>
                <c:pt idx="3">
                  <c:v>Vacant Space (SF) Class A</c:v>
                </c:pt>
                <c:pt idx="6">
                  <c:v>Overall Vacancy % Class A</c:v>
                </c:pt>
                <c:pt idx="9">
                  <c:v>Asking Rent NNN ($/SF) Class A</c:v>
                </c:pt>
                <c:pt idx="12">
                  <c:v>2023 YTD Net Absorption (SF)</c:v>
                </c:pt>
                <c:pt idx="15">
                  <c:v>Under Construction (SF)</c:v>
                </c:pt>
              </c:strCache>
            </c:strRef>
          </c:cat>
          <c:val>
            <c:numRef>
              <c:f>'[Market Metric Presentation File.xlsx]Sheet2'!$B$4:$S$4</c:f>
              <c:numCache>
                <c:formatCode>General</c:formatCode>
                <c:ptCount val="18"/>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numCache>
            </c:numRef>
          </c:val>
        </c:ser>
        <c:ser>
          <c:idx val="1"/>
          <c:order val="1"/>
          <c:tx>
            <c:strRef>
              <c:f>'[Market Metric Presentation File.xlsx]Sheet2'!$A$5</c:f>
              <c:strCache>
                <c:ptCount val="1"/>
                <c:pt idx="0">
                  <c:v>LA CBD</c:v>
                </c:pt>
              </c:strCache>
            </c:strRef>
          </c:tx>
          <c:spPr>
            <a:gradFill>
              <a:gsLst>
                <a:gs pos="0">
                  <a:schemeClr val="accent2">
                    <a:lumMod val="40000"/>
                    <a:lumOff val="60000"/>
                  </a:schemeClr>
                </a:gs>
                <a:gs pos="90000">
                  <a:schemeClr val="accent2"/>
                </a:gs>
              </a:gsLst>
              <a:lin ang="5400000" scaled="0"/>
            </a:gradFill>
            <a:ln>
              <a:gradFill>
                <a:gsLst>
                  <a:gs pos="0">
                    <a:schemeClr val="accent2"/>
                  </a:gs>
                  <a:gs pos="100000">
                    <a:schemeClr val="accent2">
                      <a:lumMod val="75000"/>
                    </a:schemeClr>
                  </a:gs>
                </a:gsLst>
                <a:lin ang="5400000" scaled="1"/>
              </a:gradFill>
            </a:ln>
            <a:effectLst>
              <a:outerShdw blurRad="76200" dist="25400" dir="2700000" algn="tl" rotWithShape="0">
                <a:schemeClr val="accent2">
                  <a:lumMod val="50000"/>
                  <a:alpha val="30000"/>
                </a:schemeClr>
              </a:outerShdw>
            </a:effectLst>
          </c:spPr>
          <c:invertIfNegative val="0"/>
          <c:dLbls>
            <c:delete val="1"/>
          </c:dLbls>
          <c:cat>
            <c:strRef>
              <c:f>'[Market Metric Presentation File.xlsx]Sheet2'!$B$3:$S$3</c:f>
              <c:strCache>
                <c:ptCount val="18"/>
                <c:pt idx="0">
                  <c:v>Market Size</c:v>
                </c:pt>
                <c:pt idx="3">
                  <c:v>Vacant Space (SF) Class A</c:v>
                </c:pt>
                <c:pt idx="6">
                  <c:v>Overall Vacancy % Class A</c:v>
                </c:pt>
                <c:pt idx="9">
                  <c:v>Asking Rent NNN ($/SF) Class A</c:v>
                </c:pt>
                <c:pt idx="12">
                  <c:v>2023 YTD Net Absorption (SF)</c:v>
                </c:pt>
                <c:pt idx="15">
                  <c:v>Under Construction (SF)</c:v>
                </c:pt>
              </c:strCache>
            </c:strRef>
          </c:cat>
          <c:val>
            <c:numRef>
              <c:f>'[Market Metric Presentation File.xlsx]Sheet2'!$B$5:$S$5</c:f>
              <c:numCache>
                <c:formatCode>_(* #,##0_);_(* \(#,##0\);_(* "-"??_);_(@_)</c:formatCode>
                <c:ptCount val="18"/>
                <c:pt idx="0">
                  <c:v>24106280</c:v>
                </c:pt>
                <c:pt idx="1">
                  <c:v>24106280</c:v>
                </c:pt>
                <c:pt idx="2" c:formatCode="General">
                  <c:v>0</c:v>
                </c:pt>
                <c:pt idx="3">
                  <c:v>6205111</c:v>
                </c:pt>
                <c:pt idx="4">
                  <c:v>6090331</c:v>
                </c:pt>
                <c:pt idx="5">
                  <c:v>-114780</c:v>
                </c:pt>
                <c:pt idx="6" c:formatCode="0.0%">
                  <c:v>0.257406410279811</c:v>
                </c:pt>
                <c:pt idx="7" c:formatCode="0.0%">
                  <c:v>0.252644995411984</c:v>
                </c:pt>
                <c:pt idx="8" c:formatCode="General">
                  <c:v>-0.004761414867827</c:v>
                </c:pt>
                <c:pt idx="9" c:formatCode="&quot;$&quot;#,##0.00_);[Red]\(&quot;$&quot;#,##0.00\)">
                  <c:v>29</c:v>
                </c:pt>
                <c:pt idx="10" c:formatCode="&quot;$&quot;#,##0.00_);[Red]\(&quot;$&quot;#,##0.00\)">
                  <c:v>29</c:v>
                </c:pt>
                <c:pt idx="11" c:formatCode="&quot;$&quot;#,##0.00_);[Red]\(&quot;$&quot;#,##0.00\)">
                  <c:v>0</c:v>
                </c:pt>
                <c:pt idx="12">
                  <c:v>-703653</c:v>
                </c:pt>
                <c:pt idx="13">
                  <c:v>-686108</c:v>
                </c:pt>
                <c:pt idx="14">
                  <c:v>17545</c:v>
                </c:pt>
                <c:pt idx="15">
                  <c:v>0</c:v>
                </c:pt>
                <c:pt idx="16">
                  <c:v>0</c:v>
                </c:pt>
                <c:pt idx="17">
                  <c:v>0</c:v>
                </c:pt>
              </c:numCache>
            </c:numRef>
          </c:val>
        </c:ser>
        <c:ser>
          <c:idx val="2"/>
          <c:order val="2"/>
          <c:tx>
            <c:strRef>
              <c:f>'[Market Metric Presentation File.xlsx]Sheet2'!$A$6</c:f>
              <c:strCache>
                <c:ptCount val="1"/>
                <c:pt idx="0">
                  <c:v>West LA</c:v>
                </c:pt>
              </c:strCache>
            </c:strRef>
          </c:tx>
          <c:spPr>
            <a:gradFill>
              <a:gsLst>
                <a:gs pos="0">
                  <a:schemeClr val="accent3">
                    <a:lumMod val="40000"/>
                    <a:lumOff val="60000"/>
                  </a:schemeClr>
                </a:gs>
                <a:gs pos="90000">
                  <a:schemeClr val="accent3"/>
                </a:gs>
              </a:gsLst>
              <a:lin ang="5400000" scaled="0"/>
            </a:gradFill>
            <a:ln>
              <a:gradFill>
                <a:gsLst>
                  <a:gs pos="0">
                    <a:schemeClr val="accent3"/>
                  </a:gs>
                  <a:gs pos="100000">
                    <a:schemeClr val="accent3">
                      <a:lumMod val="75000"/>
                    </a:schemeClr>
                  </a:gs>
                </a:gsLst>
                <a:lin ang="5400000" scaled="1"/>
              </a:gradFill>
            </a:ln>
            <a:effectLst>
              <a:outerShdw blurRad="76200" dist="25400" dir="2700000" algn="tl" rotWithShape="0">
                <a:schemeClr val="accent3">
                  <a:lumMod val="50000"/>
                  <a:alpha val="30000"/>
                </a:schemeClr>
              </a:outerShdw>
            </a:effectLst>
          </c:spPr>
          <c:invertIfNegative val="0"/>
          <c:dLbls>
            <c:delete val="1"/>
          </c:dLbls>
          <c:cat>
            <c:strRef>
              <c:f>'[Market Metric Presentation File.xlsx]Sheet2'!$B$3:$S$3</c:f>
              <c:strCache>
                <c:ptCount val="18"/>
                <c:pt idx="0">
                  <c:v>Market Size</c:v>
                </c:pt>
                <c:pt idx="3">
                  <c:v>Vacant Space (SF) Class A</c:v>
                </c:pt>
                <c:pt idx="6">
                  <c:v>Overall Vacancy % Class A</c:v>
                </c:pt>
                <c:pt idx="9">
                  <c:v>Asking Rent NNN ($/SF) Class A</c:v>
                </c:pt>
                <c:pt idx="12">
                  <c:v>2023 YTD Net Absorption (SF)</c:v>
                </c:pt>
                <c:pt idx="15">
                  <c:v>Under Construction (SF)</c:v>
                </c:pt>
              </c:strCache>
            </c:strRef>
          </c:cat>
          <c:val>
            <c:numRef>
              <c:f>'[Market Metric Presentation File.xlsx]Sheet2'!$B$6:$S$6</c:f>
              <c:numCache>
                <c:formatCode>_(* #,##0_);_(* \(#,##0\);_(* "-"??_);_(@_)</c:formatCode>
                <c:ptCount val="18"/>
                <c:pt idx="0">
                  <c:v>46523600</c:v>
                </c:pt>
                <c:pt idx="1">
                  <c:v>46590080</c:v>
                </c:pt>
                <c:pt idx="2" c:formatCode="General">
                  <c:v>66480</c:v>
                </c:pt>
                <c:pt idx="3">
                  <c:v>12141599</c:v>
                </c:pt>
                <c:pt idx="4">
                  <c:v>12744158</c:v>
                </c:pt>
                <c:pt idx="5">
                  <c:v>602559</c:v>
                </c:pt>
                <c:pt idx="6" c:formatCode="0.0%">
                  <c:v>0.260977202967956</c:v>
                </c:pt>
                <c:pt idx="7" c:formatCode="0.0%">
                  <c:v>0.273538014959408</c:v>
                </c:pt>
                <c:pt idx="8" c:formatCode="General">
                  <c:v>0.012560811991452</c:v>
                </c:pt>
                <c:pt idx="9" c:formatCode="&quot;$&quot;#,##0.00_);[Red]\(&quot;$&quot;#,##0.00\)">
                  <c:v>52</c:v>
                </c:pt>
                <c:pt idx="10" c:formatCode="&quot;$&quot;#,##0.00_);[Red]\(&quot;$&quot;#,##0.00\)">
                  <c:v>52.25</c:v>
                </c:pt>
                <c:pt idx="11" c:formatCode="&quot;$&quot;#,##0.00_);[Red]\(&quot;$&quot;#,##0.00\)">
                  <c:v>0.25</c:v>
                </c:pt>
                <c:pt idx="12">
                  <c:v>-1051001</c:v>
                </c:pt>
                <c:pt idx="13">
                  <c:v>-1787944</c:v>
                </c:pt>
                <c:pt idx="14">
                  <c:v>-736943</c:v>
                </c:pt>
                <c:pt idx="15">
                  <c:v>925368</c:v>
                </c:pt>
                <c:pt idx="16">
                  <c:v>0</c:v>
                </c:pt>
                <c:pt idx="17">
                  <c:v>-925368</c:v>
                </c:pt>
              </c:numCache>
            </c:numRef>
          </c:val>
        </c:ser>
        <c:ser>
          <c:idx val="3"/>
          <c:order val="3"/>
          <c:tx>
            <c:strRef>
              <c:f>'[Market Metric Presentation File.xlsx]Sheet2'!$A$7</c:f>
              <c:strCache>
                <c:ptCount val="1"/>
                <c:pt idx="0">
                  <c:v>El Segundo / Beach Cities</c:v>
                </c:pt>
              </c:strCache>
            </c:strRef>
          </c:tx>
          <c:spPr>
            <a:gradFill>
              <a:gsLst>
                <a:gs pos="0">
                  <a:schemeClr val="accent4">
                    <a:lumMod val="40000"/>
                    <a:lumOff val="60000"/>
                  </a:schemeClr>
                </a:gs>
                <a:gs pos="90000">
                  <a:schemeClr val="accent4"/>
                </a:gs>
              </a:gsLst>
              <a:lin ang="5400000" scaled="0"/>
            </a:gradFill>
            <a:ln>
              <a:gradFill>
                <a:gsLst>
                  <a:gs pos="0">
                    <a:schemeClr val="accent4"/>
                  </a:gs>
                  <a:gs pos="100000">
                    <a:schemeClr val="accent4">
                      <a:lumMod val="75000"/>
                    </a:schemeClr>
                  </a:gs>
                </a:gsLst>
                <a:lin ang="5400000" scaled="1"/>
              </a:gradFill>
            </a:ln>
            <a:effectLst>
              <a:outerShdw blurRad="76200" dist="25400" dir="2700000" algn="tl" rotWithShape="0">
                <a:schemeClr val="accent4">
                  <a:lumMod val="50000"/>
                  <a:alpha val="30000"/>
                </a:schemeClr>
              </a:outerShdw>
            </a:effectLst>
          </c:spPr>
          <c:invertIfNegative val="0"/>
          <c:dLbls>
            <c:delete val="1"/>
          </c:dLbls>
          <c:cat>
            <c:strRef>
              <c:f>'[Market Metric Presentation File.xlsx]Sheet2'!$B$3:$S$3</c:f>
              <c:strCache>
                <c:ptCount val="18"/>
                <c:pt idx="0">
                  <c:v>Market Size</c:v>
                </c:pt>
                <c:pt idx="3">
                  <c:v>Vacant Space (SF) Class A</c:v>
                </c:pt>
                <c:pt idx="6">
                  <c:v>Overall Vacancy % Class A</c:v>
                </c:pt>
                <c:pt idx="9">
                  <c:v>Asking Rent NNN ($/SF) Class A</c:v>
                </c:pt>
                <c:pt idx="12">
                  <c:v>2023 YTD Net Absorption (SF)</c:v>
                </c:pt>
                <c:pt idx="15">
                  <c:v>Under Construction (SF)</c:v>
                </c:pt>
              </c:strCache>
            </c:strRef>
          </c:cat>
          <c:val>
            <c:numRef>
              <c:f>'[Market Metric Presentation File.xlsx]Sheet2'!$B$7:$S$7</c:f>
              <c:numCache>
                <c:formatCode>_(* #,##0_);_(* \(#,##0\);_(* "-"??_);_(@_)</c:formatCode>
                <c:ptCount val="18"/>
                <c:pt idx="0">
                  <c:v>8057290</c:v>
                </c:pt>
                <c:pt idx="1">
                  <c:v>8057290</c:v>
                </c:pt>
                <c:pt idx="2" c:formatCode="General">
                  <c:v>0</c:v>
                </c:pt>
                <c:pt idx="3">
                  <c:v>1933812</c:v>
                </c:pt>
                <c:pt idx="4">
                  <c:v>2220098</c:v>
                </c:pt>
                <c:pt idx="5">
                  <c:v>286286</c:v>
                </c:pt>
                <c:pt idx="6" c:formatCode="0.0%">
                  <c:v>0.240007744539417</c:v>
                </c:pt>
                <c:pt idx="7" c:formatCode="0.0%">
                  <c:v>0.275539046006784</c:v>
                </c:pt>
                <c:pt idx="8" c:formatCode="General">
                  <c:v>0.035531301467367</c:v>
                </c:pt>
                <c:pt idx="9" c:formatCode="&quot;$&quot;#,##0.00_);[Red]\(&quot;$&quot;#,##0.00\)">
                  <c:v>41.5</c:v>
                </c:pt>
                <c:pt idx="10" c:formatCode="&quot;$&quot;#,##0.00_);[Red]\(&quot;$&quot;#,##0.00\)">
                  <c:v>36.25</c:v>
                </c:pt>
                <c:pt idx="11" c:formatCode="&quot;$&quot;#,##0.00_);[Red]\(&quot;$&quot;#,##0.00\)">
                  <c:v>-5.25</c:v>
                </c:pt>
                <c:pt idx="12">
                  <c:v>140823</c:v>
                </c:pt>
                <c:pt idx="13">
                  <c:v>-163510</c:v>
                </c:pt>
                <c:pt idx="14">
                  <c:v>-304333</c:v>
                </c:pt>
                <c:pt idx="15">
                  <c:v>145000</c:v>
                </c:pt>
                <c:pt idx="16">
                  <c:v>145000</c:v>
                </c:pt>
                <c:pt idx="17">
                  <c:v>0</c:v>
                </c:pt>
              </c:numCache>
            </c:numRef>
          </c:val>
        </c:ser>
        <c:ser>
          <c:idx val="4"/>
          <c:order val="4"/>
          <c:tx>
            <c:strRef>
              <c:f>'[Market Metric Presentation File.xlsx]Sheet2'!$A$8</c:f>
              <c:strCache>
                <c:ptCount val="1"/>
                <c:pt idx="0">
                  <c:v>Tri-Cities</c:v>
                </c:pt>
              </c:strCache>
            </c:strRef>
          </c:tx>
          <c:spPr>
            <a:gradFill>
              <a:gsLst>
                <a:gs pos="0">
                  <a:schemeClr val="accent5">
                    <a:lumMod val="40000"/>
                    <a:lumOff val="60000"/>
                  </a:schemeClr>
                </a:gs>
                <a:gs pos="90000">
                  <a:schemeClr val="accent5"/>
                </a:gs>
              </a:gsLst>
              <a:lin ang="5400000" scaled="0"/>
            </a:gradFill>
            <a:ln>
              <a:gradFill>
                <a:gsLst>
                  <a:gs pos="0">
                    <a:schemeClr val="accent5"/>
                  </a:gs>
                  <a:gs pos="100000">
                    <a:schemeClr val="accent5">
                      <a:lumMod val="75000"/>
                    </a:schemeClr>
                  </a:gs>
                </a:gsLst>
                <a:lin ang="5400000" scaled="1"/>
              </a:gradFill>
            </a:ln>
            <a:effectLst>
              <a:outerShdw blurRad="76200" dist="25400" dir="2700000" algn="tl" rotWithShape="0">
                <a:schemeClr val="accent5">
                  <a:lumMod val="50000"/>
                  <a:alpha val="30000"/>
                </a:schemeClr>
              </a:outerShdw>
            </a:effectLst>
          </c:spPr>
          <c:invertIfNegative val="0"/>
          <c:dLbls>
            <c:delete val="1"/>
          </c:dLbls>
          <c:cat>
            <c:strRef>
              <c:f>'[Market Metric Presentation File.xlsx]Sheet2'!$B$3:$S$3</c:f>
              <c:strCache>
                <c:ptCount val="18"/>
                <c:pt idx="0">
                  <c:v>Market Size</c:v>
                </c:pt>
                <c:pt idx="3">
                  <c:v>Vacant Space (SF) Class A</c:v>
                </c:pt>
                <c:pt idx="6">
                  <c:v>Overall Vacancy % Class A</c:v>
                </c:pt>
                <c:pt idx="9">
                  <c:v>Asking Rent NNN ($/SF) Class A</c:v>
                </c:pt>
                <c:pt idx="12">
                  <c:v>2023 YTD Net Absorption (SF)</c:v>
                </c:pt>
                <c:pt idx="15">
                  <c:v>Under Construction (SF)</c:v>
                </c:pt>
              </c:strCache>
            </c:strRef>
          </c:cat>
          <c:val>
            <c:numRef>
              <c:f>'[Market Metric Presentation File.xlsx]Sheet2'!$B$8:$S$8</c:f>
              <c:numCache>
                <c:formatCode>_(* #,##0_);_(* \(#,##0\);_(* "-"??_);_(@_)</c:formatCode>
                <c:ptCount val="18"/>
                <c:pt idx="0">
                  <c:v>20931456</c:v>
                </c:pt>
                <c:pt idx="1">
                  <c:v>20440998</c:v>
                </c:pt>
                <c:pt idx="2" c:formatCode="General">
                  <c:v>-490458</c:v>
                </c:pt>
                <c:pt idx="3">
                  <c:v>4584554</c:v>
                </c:pt>
                <c:pt idx="4">
                  <c:v>4639348</c:v>
                </c:pt>
                <c:pt idx="5">
                  <c:v>54794</c:v>
                </c:pt>
                <c:pt idx="6" c:formatCode="0.0%">
                  <c:v>0.219026999364019</c:v>
                </c:pt>
                <c:pt idx="7" c:formatCode="0.0%">
                  <c:v>0.226962890950823</c:v>
                </c:pt>
                <c:pt idx="8" c:formatCode="General">
                  <c:v>0.00793589158680399</c:v>
                </c:pt>
                <c:pt idx="9" c:formatCode="&quot;$&quot;#,##0.00_);[Red]\(&quot;$&quot;#,##0.00\)">
                  <c:v>36.5</c:v>
                </c:pt>
                <c:pt idx="10" c:formatCode="&quot;$&quot;#,##0.00_);[Red]\(&quot;$&quot;#,##0.00\)">
                  <c:v>25.5</c:v>
                </c:pt>
                <c:pt idx="11" c:formatCode="&quot;$&quot;#,##0.00_);[Red]\(&quot;$&quot;#,##0.00\)">
                  <c:v>-11</c:v>
                </c:pt>
                <c:pt idx="12">
                  <c:v>489301</c:v>
                </c:pt>
                <c:pt idx="13">
                  <c:v>268209</c:v>
                </c:pt>
                <c:pt idx="14">
                  <c:v>-221092</c:v>
                </c:pt>
                <c:pt idx="15">
                  <c:v>229295</c:v>
                </c:pt>
                <c:pt idx="16">
                  <c:v>0</c:v>
                </c:pt>
                <c:pt idx="17">
                  <c:v>-229295</c:v>
                </c:pt>
              </c:numCache>
            </c:numRef>
          </c:val>
        </c:ser>
        <c:ser>
          <c:idx val="5"/>
          <c:order val="5"/>
          <c:tx>
            <c:strRef>
              <c:f>'[Market Metric Presentation File.xlsx]Sheet2'!$A$9</c:f>
              <c:strCache>
                <c:ptCount val="1"/>
                <c:pt idx="0">
                  <c:v>Hollywood / Wilshire Corr.</c:v>
                </c:pt>
              </c:strCache>
            </c:strRef>
          </c:tx>
          <c:spPr>
            <a:gradFill>
              <a:gsLst>
                <a:gs pos="0">
                  <a:schemeClr val="accent6">
                    <a:lumMod val="40000"/>
                    <a:lumOff val="60000"/>
                  </a:schemeClr>
                </a:gs>
                <a:gs pos="90000">
                  <a:schemeClr val="accent6"/>
                </a:gs>
              </a:gsLst>
              <a:lin ang="5400000" scaled="0"/>
            </a:gradFill>
            <a:ln>
              <a:gradFill>
                <a:gsLst>
                  <a:gs pos="0">
                    <a:schemeClr val="accent6"/>
                  </a:gs>
                  <a:gs pos="100000">
                    <a:schemeClr val="accent6">
                      <a:lumMod val="75000"/>
                    </a:schemeClr>
                  </a:gs>
                </a:gsLst>
                <a:lin ang="5400000" scaled="1"/>
              </a:gradFill>
            </a:ln>
            <a:effectLst>
              <a:outerShdw blurRad="76200" dist="25400" dir="2700000" algn="tl" rotWithShape="0">
                <a:schemeClr val="accent6">
                  <a:lumMod val="50000"/>
                  <a:alpha val="30000"/>
                </a:schemeClr>
              </a:outerShdw>
            </a:effectLst>
          </c:spPr>
          <c:invertIfNegative val="0"/>
          <c:dLbls>
            <c:delete val="1"/>
          </c:dLbls>
          <c:cat>
            <c:strRef>
              <c:f>'[Market Metric Presentation File.xlsx]Sheet2'!$B$3:$S$3</c:f>
              <c:strCache>
                <c:ptCount val="18"/>
                <c:pt idx="0">
                  <c:v>Market Size</c:v>
                </c:pt>
                <c:pt idx="3">
                  <c:v>Vacant Space (SF) Class A</c:v>
                </c:pt>
                <c:pt idx="6">
                  <c:v>Overall Vacancy % Class A</c:v>
                </c:pt>
                <c:pt idx="9">
                  <c:v>Asking Rent NNN ($/SF) Class A</c:v>
                </c:pt>
                <c:pt idx="12">
                  <c:v>2023 YTD Net Absorption (SF)</c:v>
                </c:pt>
                <c:pt idx="15">
                  <c:v>Under Construction (SF)</c:v>
                </c:pt>
              </c:strCache>
            </c:strRef>
          </c:cat>
          <c:val>
            <c:numRef>
              <c:f>'[Market Metric Presentation File.xlsx]Sheet2'!$B$9:$S$9</c:f>
              <c:numCache>
                <c:formatCode>_(* #,##0_);_(* \(#,##0\);_(* "-"??_);_(@_)</c:formatCode>
                <c:ptCount val="18"/>
                <c:pt idx="0">
                  <c:v>7181863</c:v>
                </c:pt>
                <c:pt idx="1">
                  <c:v>7181863</c:v>
                </c:pt>
                <c:pt idx="2" c:formatCode="General">
                  <c:v>0</c:v>
                </c:pt>
                <c:pt idx="3">
                  <c:v>2055592</c:v>
                </c:pt>
                <c:pt idx="4">
                  <c:v>2049964</c:v>
                </c:pt>
                <c:pt idx="5">
                  <c:v>-5628</c:v>
                </c:pt>
                <c:pt idx="6" c:formatCode="0.0%">
                  <c:v>0.286</c:v>
                </c:pt>
                <c:pt idx="7" c:formatCode="0.0%">
                  <c:v>0.285436244049768</c:v>
                </c:pt>
                <c:pt idx="8" c:formatCode="General">
                  <c:v>-0.000563755950232059</c:v>
                </c:pt>
                <c:pt idx="9" c:formatCode="&quot;$&quot;#,##0.00_);[Red]\(&quot;$&quot;#,##0.00\)">
                  <c:v>34.5</c:v>
                </c:pt>
                <c:pt idx="10" c:formatCode="&quot;$&quot;#,##0.00_);[Red]\(&quot;$&quot;#,##0.00\)">
                  <c:v>31.25</c:v>
                </c:pt>
                <c:pt idx="11" c:formatCode="&quot;$&quot;#,##0.00_);[Red]\(&quot;$&quot;#,##0.00\)">
                  <c:v>-3.25</c:v>
                </c:pt>
                <c:pt idx="12">
                  <c:v>-196922</c:v>
                </c:pt>
                <c:pt idx="13">
                  <c:v>-191424</c:v>
                </c:pt>
                <c:pt idx="14">
                  <c:v>5498</c:v>
                </c:pt>
                <c:pt idx="15">
                  <c:v>0</c:v>
                </c:pt>
                <c:pt idx="16">
                  <c:v>0</c:v>
                </c:pt>
                <c:pt idx="17">
                  <c:v>0</c:v>
                </c:pt>
              </c:numCache>
            </c:numRef>
          </c:val>
        </c:ser>
        <c:dLbls>
          <c:showLegendKey val="0"/>
          <c:showVal val="0"/>
          <c:showCatName val="0"/>
          <c:showSerName val="0"/>
          <c:showPercent val="0"/>
          <c:showBubbleSize val="0"/>
        </c:dLbls>
        <c:gapWidth val="216"/>
        <c:overlap val="-32"/>
        <c:axId val="805927221"/>
        <c:axId val="283771850"/>
      </c:barChart>
      <c:catAx>
        <c:axId val="805927221"/>
        <c:scaling>
          <c:orientation val="minMax"/>
        </c:scaling>
        <c:delete val="0"/>
        <c:axPos val="b"/>
        <c:majorTickMark val="none"/>
        <c:minorTickMark val="none"/>
        <c:tickLblPos val="nextTo"/>
        <c:spPr>
          <a:noFill/>
          <a:ln w="9525" cap="flat" cmpd="sng" algn="ctr">
            <a:solidFill>
              <a:schemeClr val="tx1">
                <a:lumMod val="15000"/>
                <a:lumOff val="85000"/>
              </a:schemeClr>
            </a:solidFill>
            <a:round/>
          </a:ln>
          <a:effectLst/>
        </c:spPr>
        <c:txPr>
          <a:bodyPr rot="-60000000" spcFirstLastPara="0" vertOverflow="ellipsis" vert="horz" wrap="square" anchor="ctr" anchorCtr="1"/>
          <a:lstStyle/>
          <a:p>
            <a:pPr>
              <a:defRPr lang="en-US" sz="900" b="0" i="0" u="none" strike="noStrike" kern="1200" baseline="0">
                <a:solidFill>
                  <a:schemeClr val="tx1">
                    <a:lumMod val="65000"/>
                    <a:lumOff val="35000"/>
                  </a:schemeClr>
                </a:solidFill>
                <a:latin typeface="+mn-lt"/>
                <a:ea typeface="+mn-ea"/>
                <a:cs typeface="+mn-cs"/>
              </a:defRPr>
            </a:pPr>
          </a:p>
        </c:txPr>
        <c:crossAx val="283771850"/>
        <c:crosses val="autoZero"/>
        <c:auto val="1"/>
        <c:lblAlgn val="ctr"/>
        <c:lblOffset val="100"/>
        <c:noMultiLvlLbl val="0"/>
      </c:catAx>
      <c:valAx>
        <c:axId val="283771850"/>
        <c:scaling>
          <c:orientation val="minMax"/>
        </c:scaling>
        <c:delete val="0"/>
        <c:axPos val="l"/>
        <c:majorGridlines>
          <c:spPr>
            <a:ln w="9525" cap="flat" cmpd="sng" algn="ctr">
              <a:solidFill>
                <a:schemeClr val="lt1">
                  <a:lumMod val="90200"/>
                </a:schemeClr>
              </a:solidFill>
              <a:round/>
            </a:ln>
            <a:effectLst/>
          </c:spPr>
        </c:majorGridlines>
        <c:title>
          <c:tx>
            <c:rich>
              <a:bodyPr rot="-5400000" spcFirstLastPara="0" vertOverflow="ellipsis" vert="horz" wrap="square" anchor="ctr" anchorCtr="1"/>
              <a:lstStyle/>
              <a:p>
                <a:pPr defTabSz="914400">
                  <a:defRPr lang="en-US" sz="1000" b="0" i="0" u="none" strike="noStrike" kern="1200" baseline="0">
                    <a:solidFill>
                      <a:schemeClr val="tx1">
                        <a:lumMod val="65000"/>
                        <a:lumOff val="35000"/>
                      </a:schemeClr>
                    </a:solidFill>
                    <a:latin typeface="+mn-lt"/>
                    <a:ea typeface="+mn-ea"/>
                    <a:cs typeface="+mn-cs"/>
                  </a:defRPr>
                </a:pPr>
                <a:r>
                  <a:t>SQUARE FEET</a:t>
                </a:r>
              </a:p>
            </c:rich>
          </c:tx>
          <c:layout/>
          <c:overlay val="0"/>
          <c:spPr>
            <a:noFill/>
            <a:ln>
              <a:noFill/>
            </a:ln>
            <a:effectLst/>
          </c:spPr>
        </c:title>
        <c:numFmt formatCode="General" sourceLinked="1"/>
        <c:majorTickMark val="none"/>
        <c:minorTickMark val="none"/>
        <c:tickLblPos val="nextTo"/>
        <c:spPr>
          <a:noFill/>
          <a:ln>
            <a:noFill/>
          </a:ln>
          <a:effectLst/>
        </c:spPr>
        <c:txPr>
          <a:bodyPr rot="-60000000" spcFirstLastPara="0" vertOverflow="ellipsis" vert="horz" wrap="square" anchor="ctr" anchorCtr="1"/>
          <a:lstStyle/>
          <a:p>
            <a:pPr>
              <a:defRPr lang="en-US" sz="900" b="0" i="0" u="none" strike="noStrike" kern="1200" baseline="0">
                <a:solidFill>
                  <a:schemeClr val="tx1">
                    <a:lumMod val="65000"/>
                    <a:lumOff val="35000"/>
                  </a:schemeClr>
                </a:solidFill>
                <a:latin typeface="+mn-lt"/>
                <a:ea typeface="+mn-ea"/>
                <a:cs typeface="+mn-cs"/>
              </a:defRPr>
            </a:pPr>
          </a:p>
        </c:txPr>
        <c:crossAx val="805927221"/>
        <c:crosses val="autoZero"/>
        <c:crossBetween val="between"/>
      </c:valAx>
      <c:dTable>
        <c:showHorzBorder val="1"/>
        <c:showVertBorder val="1"/>
        <c:showOutline val="1"/>
        <c:showKeys val="1"/>
        <c:spPr>
          <a:noFill/>
          <a:ln w="9525" cap="flat" cmpd="sng" algn="ctr">
            <a:solidFill>
              <a:schemeClr val="tx1">
                <a:lumMod val="15000"/>
                <a:lumOff val="85000"/>
              </a:schemeClr>
            </a:solidFill>
            <a:round/>
          </a:ln>
          <a:effectLst/>
        </c:spPr>
        <c:txPr>
          <a:bodyPr rot="0" spcFirstLastPara="0" vertOverflow="ellipsis" vert="horz" wrap="square" anchor="ctr" anchorCtr="1"/>
          <a:lstStyle/>
          <a:p>
            <a:pPr>
              <a:defRPr lang="en-US" sz="900" b="0" i="0" u="none" strike="noStrike" kern="1200" baseline="0">
                <a:solidFill>
                  <a:schemeClr val="tx1">
                    <a:lumMod val="65000"/>
                    <a:lumOff val="35000"/>
                  </a:schemeClr>
                </a:solidFill>
                <a:latin typeface="+mn-lt"/>
                <a:ea typeface="+mn-ea"/>
                <a:cs typeface="+mn-cs"/>
              </a:defRPr>
            </a:pPr>
          </a:p>
        </c:txPr>
      </c:dTable>
      <c:spPr>
        <a:noFill/>
        <a:ln>
          <a:noFill/>
        </a:ln>
        <a:effectLst/>
      </c:spPr>
    </c:plotArea>
    <c:plotVisOnly val="1"/>
    <c:dispBlanksAs val="gap"/>
    <c:showDLblsOverMax val="0"/>
    <c:extLst>
      <c:ext uri="{0b15fc19-7d7d-44ad-8c2d-2c3a37ce22c3}">
        <chartProps xmlns="https://web.wps.cn/et/2018/main" chartId="{34dde99e-b85b-4ca1-ab66-4bd42a91b3ca}"/>
      </c:ext>
    </c:extLst>
  </c:chart>
  <c:spPr>
    <a:noFill/>
    <a:ln>
      <a:noFill/>
    </a:ln>
    <a:effectLst/>
  </c:spPr>
  <c:txPr>
    <a:bodyPr/>
    <a:lstStyle/>
    <a:p>
      <a:pPr>
        <a:defRPr lang="en-US"/>
      </a:pPr>
    </a:p>
  </c:txPr>
  <c:externalData r:id="rId1">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1000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10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000" kern="1200"/>
    <cs:bodyPr rot="0" spcFirstLastPara="1" vertOverflow="clip" horzOverflow="clip" vert="horz" wrap="square" lIns="36576" tIns="18288" rIns="36576" bIns="18288" anchor="ctr" anchorCtr="1">
      <a:spAutoFit/>
    </cs:bodyPr>
  </cs:dataLabelCallout>
  <cs:dataPoint>
    <cs:lnRef idx="0">
      <cs:styleClr val="auto"/>
    </cs:lnRef>
    <cs:fillRef idx="0">
      <cs:styleClr val="auto"/>
    </cs:fillRef>
    <cs:effectRef idx="0">
      <cs:styleClr val="auto"/>
    </cs:effectRef>
    <cs:fontRef idx="minor">
      <a:schemeClr val="dk1"/>
    </cs:fontRef>
    <cs:spPr>
      <a:gradFill>
        <a:gsLst>
          <a:gs pos="0">
            <a:schemeClr val="phClr">
              <a:lumMod val="40000"/>
              <a:lumOff val="60000"/>
            </a:schemeClr>
          </a:gs>
          <a:gs pos="90000">
            <a:schemeClr val="phClr"/>
          </a:gs>
        </a:gsLst>
        <a:lin ang="5400000" scaled="0"/>
      </a:gradFill>
      <a:ln>
        <a:gradFill>
          <a:gsLst>
            <a:gs pos="0">
              <a:schemeClr val="phClr"/>
            </a:gs>
            <a:gs pos="100000">
              <a:schemeClr val="phClr">
                <a:lumMod val="75000"/>
              </a:schemeClr>
            </a:gs>
          </a:gsLst>
          <a:lin ang="5400000" scaled="1"/>
        </a:gradFill>
      </a:ln>
      <a:effectLst>
        <a:outerShdw blurRad="76200" dist="25400" dir="2700000" algn="tl" rotWithShape="0">
          <a:schemeClr val="phClr">
            <a:lumMod val="50000"/>
            <a:alpha val="30000"/>
          </a:schemeClr>
        </a:outerShdw>
      </a:effectLst>
    </cs:spPr>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lt1">
            <a:lumMod val="902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75000"/>
        <a:lumOff val="25000"/>
      </a:schemeClr>
    </cs:fontRef>
    <cs:defRPr sz="1400" b="1" kern="120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FD42F7-718C-4B98-AAEC-167E6DDD60A7}" type="datetimeFigureOut">
              <a:rPr lang="en-US" smtClean="0"/>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B2AA4F-B828-4D7C-AFD3-893933DAFCB4}"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pPr marL="171450" indent="-171450">
              <a:buFont typeface="Arial" panose="020B0704020202020204" pitchFamily="34" charset="0"/>
              <a:buChar char="•"/>
            </a:pPr>
            <a:r>
              <a:rPr lang="en-US"/>
              <a:t>Market size is the total available inventory includes vacant plus the occupied space. </a:t>
            </a:r>
            <a:endParaRPr lang="en-US"/>
          </a:p>
          <a:p>
            <a:pPr marL="171450" indent="-171450">
              <a:buFont typeface="Arial" panose="020B0704020202020204" pitchFamily="34" charset="0"/>
              <a:buChar char="•"/>
            </a:pPr>
            <a:r>
              <a:rPr lang="en-US"/>
              <a:t>Vacant Space is the amount of unoccupied or available commercial real estate space measured in square feet (SF) for a given quarter.</a:t>
            </a:r>
            <a:endParaRPr lang="en-US"/>
          </a:p>
          <a:p>
            <a:pPr marL="171450" indent="-171450">
              <a:buFont typeface="Arial" panose="020B0704020202020204" pitchFamily="34" charset="0"/>
              <a:buChar char="•"/>
            </a:pPr>
            <a:r>
              <a:rPr lang="en-US"/>
              <a:t>Overall Vacancy % is the portion of the total market size (SF) that is empty at the end of a quarter and measured as the ratio of Vacant space((SF) to the Market size (SF).</a:t>
            </a:r>
            <a:endParaRPr lang="en-US"/>
          </a:p>
          <a:p>
            <a:pPr marL="171450" indent="-171450">
              <a:buFont typeface="Arial" panose="020B0704020202020204" pitchFamily="34" charset="0"/>
              <a:buChar char="•"/>
            </a:pPr>
            <a:r>
              <a:rPr lang="en-US"/>
              <a:t>Asking rent NNN ($/Sf) is the rent landlords are advising per square foot, on a triple-net (NNN) lease basis, which means the tenant pays the Base Rent (in $/sf monthly or yearly) plus the operating expenses including property taxes, insurance and maintenance).</a:t>
            </a:r>
            <a:endParaRPr lang="en-US"/>
          </a:p>
          <a:p>
            <a:pPr marL="171450" indent="-171450">
              <a:buFont typeface="Arial" panose="020B0704020202020204" pitchFamily="34" charset="0"/>
              <a:buChar char="•"/>
            </a:pPr>
            <a:r>
              <a:rPr lang="en-US"/>
              <a:t>Net Absorbtion is the difference between Space occupied and the Sapce vacant from year to date (YTD) which means from the start uptil the end of reporting date.</a:t>
            </a:r>
            <a:endParaRPr lang="en-US"/>
          </a:p>
          <a:p>
            <a:pPr marL="171450" indent="-171450">
              <a:buFont typeface="Arial" panose="020B0704020202020204" pitchFamily="34" charset="0"/>
              <a:buChar char="•"/>
            </a:pPr>
            <a:r>
              <a:rPr lang="en-US"/>
              <a:t>Under Construction is the total amount of commercial real estate (Sf) that is physically being bulit but not yet completed as of the reporting date and once it is completed it moves from under construction into “Market Size” inventory.</a:t>
            </a:r>
            <a:endParaRPr lang="en-US"/>
          </a:p>
          <a:p>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endParaRPr lang="en-US"/>
          </a:p>
          <a:p>
            <a:endParaRPr lang="en-US"/>
          </a:p>
          <a:p>
            <a:r>
              <a:rPr lang="en-US"/>
              <a:t>The Verticla axis reflects the Square feet (SF) and horizontal axis represents the Market Metrics/Categories.</a:t>
            </a:r>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pPr marL="171450" indent="-171450">
              <a:buFont typeface="Arial" panose="020B0704020202020204" pitchFamily="34" charset="0"/>
              <a:buChar char="•"/>
            </a:pPr>
            <a:r>
              <a:rPr lang="en-US"/>
              <a:t>Market size is the total available inventory includes vacant plus the occupied space. </a:t>
            </a:r>
            <a:endParaRPr lang="en-US"/>
          </a:p>
          <a:p>
            <a:pPr marL="171450" indent="-171450">
              <a:buFont typeface="Arial" panose="020B0704020202020204" pitchFamily="34" charset="0"/>
              <a:buChar char="•"/>
            </a:pPr>
            <a:r>
              <a:rPr lang="en-US"/>
              <a:t>Vacant Space is the amount of unoccupied or available commercial real estate space measured in square feet (SF) for a given quarter.</a:t>
            </a:r>
            <a:endParaRPr lang="en-US"/>
          </a:p>
          <a:p>
            <a:pPr marL="171450" indent="-171450">
              <a:buFont typeface="Arial" panose="020B0704020202020204" pitchFamily="34" charset="0"/>
              <a:buChar char="•"/>
            </a:pPr>
            <a:r>
              <a:rPr lang="en-US"/>
              <a:t>Overall Vacancy % is the portion of the total market size (SF) that is empty at the end of a quarter and measured as the ratio of Vacant space((SF) to the Market size (SF).</a:t>
            </a:r>
            <a:endParaRPr lang="en-US"/>
          </a:p>
          <a:p>
            <a:pPr marL="171450" indent="-171450">
              <a:buFont typeface="Arial" panose="020B0704020202020204" pitchFamily="34" charset="0"/>
              <a:buChar char="•"/>
            </a:pPr>
            <a:r>
              <a:rPr lang="en-US"/>
              <a:t>Asking rent NNN ($/Sf) is the rent landlords are advising per square foot, on a triple-net (NNN) lease basis, which means the tenant pays the Base Rent (in $/sf monthly or yearly) plus the operating expenses including property taxes, insurance and maintenance).</a:t>
            </a:r>
            <a:endParaRPr lang="en-US"/>
          </a:p>
          <a:p>
            <a:pPr marL="171450" indent="-171450">
              <a:buFont typeface="Arial" panose="020B0704020202020204" pitchFamily="34" charset="0"/>
              <a:buChar char="•"/>
            </a:pPr>
            <a:r>
              <a:rPr lang="en-US"/>
              <a:t>Net Absorbtion is the difference between Space occupied and the Sapce vacant from year to date (YTD) which means from the start uptil the end of reporting date.</a:t>
            </a:r>
            <a:endParaRPr lang="en-US"/>
          </a:p>
          <a:p>
            <a:pPr marL="171450" indent="-171450">
              <a:buFont typeface="Arial" panose="020B0704020202020204" pitchFamily="34" charset="0"/>
              <a:buChar char="•"/>
            </a:pPr>
            <a:r>
              <a:rPr lang="en-US"/>
              <a:t>Under Construction is the total amount of commercial real estate (Sf) that is physically being bulit but not yet completed as of the reporting date and once it is completed it moves from under construction into “Market Size” inventory.</a:t>
            </a:r>
            <a:endParaRPr lang="en-US"/>
          </a:p>
          <a:p>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pPr marL="171450" indent="-171450">
              <a:buFont typeface="Arial" panose="020B0704020202020204" pitchFamily="34" charset="0"/>
              <a:buChar char="•"/>
            </a:pPr>
            <a:r>
              <a:rPr lang="en-US"/>
              <a:t>Market size is the total available inventory includes vacant plus the occupied space. </a:t>
            </a:r>
            <a:endParaRPr lang="en-US"/>
          </a:p>
          <a:p>
            <a:pPr marL="171450" indent="-171450">
              <a:buFont typeface="Arial" panose="020B0704020202020204" pitchFamily="34" charset="0"/>
              <a:buChar char="•"/>
            </a:pPr>
            <a:r>
              <a:rPr lang="en-US"/>
              <a:t>Vacant Space is the amount of unoccupied or available commercial real estate space measured in square feet (SF) for a given quarter.</a:t>
            </a:r>
            <a:endParaRPr lang="en-US"/>
          </a:p>
          <a:p>
            <a:pPr marL="171450" indent="-171450">
              <a:buFont typeface="Arial" panose="020B0704020202020204" pitchFamily="34" charset="0"/>
              <a:buChar char="•"/>
            </a:pPr>
            <a:r>
              <a:rPr lang="en-US"/>
              <a:t>Overall Vacancy % is the portion of the total market size (SF) that is empty at the end of a quarter and measured as the ratio of Vacant space((SF) to the Market size (SF).</a:t>
            </a:r>
            <a:endParaRPr lang="en-US"/>
          </a:p>
          <a:p>
            <a:pPr marL="171450" indent="-171450">
              <a:buFont typeface="Arial" panose="020B0704020202020204" pitchFamily="34" charset="0"/>
              <a:buChar char="•"/>
            </a:pPr>
            <a:r>
              <a:rPr lang="en-US"/>
              <a:t>Asking rent NNN ($/Sf) is the rent landlords are advising per square foot, on a triple-net (NNN) lease basis, which means the tenant pays the Base Rent (in $/sf monthly or yearly) plus the operating expenses including property taxes, insurance and maintenance).</a:t>
            </a:r>
            <a:endParaRPr lang="en-US"/>
          </a:p>
          <a:p>
            <a:pPr marL="171450" indent="-171450">
              <a:buFont typeface="Arial" panose="020B0704020202020204" pitchFamily="34" charset="0"/>
              <a:buChar char="•"/>
            </a:pPr>
            <a:r>
              <a:rPr lang="en-US"/>
              <a:t>Net Absorbtion is the difference between Space occupied and the Sapce vacant from year to date (YTD) which means from the start uptil the end of reporting date.</a:t>
            </a:r>
            <a:endParaRPr lang="en-US"/>
          </a:p>
          <a:p>
            <a:pPr marL="171450" indent="-171450">
              <a:buFont typeface="Arial" panose="020B0704020202020204" pitchFamily="34" charset="0"/>
              <a:buChar char="•"/>
            </a:pPr>
            <a:r>
              <a:rPr lang="en-US"/>
              <a:t>Under Construction is the total amount of commercial real estate (Sf) that is physically being bulit but not yet completed as of the reporting date and once it is completed it moves from under construction into “Market Size” inventory.</a:t>
            </a:r>
            <a:endParaRPr lang="en-US"/>
          </a:p>
          <a:p>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pPr marL="171450" indent="-171450">
              <a:buFont typeface="Arial" panose="020B0704020202020204" pitchFamily="34" charset="0"/>
              <a:buChar char="•"/>
            </a:pPr>
            <a:r>
              <a:rPr lang="en-US"/>
              <a:t>Market size is the total available inventory includes vacant plus the occupied space. </a:t>
            </a:r>
            <a:endParaRPr lang="en-US"/>
          </a:p>
          <a:p>
            <a:pPr marL="171450" indent="-171450">
              <a:buFont typeface="Arial" panose="020B0704020202020204" pitchFamily="34" charset="0"/>
              <a:buChar char="•"/>
            </a:pPr>
            <a:r>
              <a:rPr lang="en-US"/>
              <a:t>Vacant Space is the amount of unoccupied or available commercial real estate space measured in square feet (SF) for a given quarter.</a:t>
            </a:r>
            <a:endParaRPr lang="en-US"/>
          </a:p>
          <a:p>
            <a:pPr marL="171450" indent="-171450">
              <a:buFont typeface="Arial" panose="020B0704020202020204" pitchFamily="34" charset="0"/>
              <a:buChar char="•"/>
            </a:pPr>
            <a:r>
              <a:rPr lang="en-US"/>
              <a:t>Overall Vacancy % is the portion of the total market size (SF) that is empty at the end of a quarter and measured as the ratio of Vacant space((SF) to the Market size (SF).</a:t>
            </a:r>
            <a:endParaRPr lang="en-US"/>
          </a:p>
          <a:p>
            <a:pPr marL="171450" indent="-171450">
              <a:buFont typeface="Arial" panose="020B0704020202020204" pitchFamily="34" charset="0"/>
              <a:buChar char="•"/>
            </a:pPr>
            <a:r>
              <a:rPr lang="en-US"/>
              <a:t>Asking rent NNN ($/Sf) is the rent landlords are advising per square foot, on a triple-net (NNN) lease basis, which means the tenant pays the Base Rent (in $/sf monthly or yearly) plus the operating expenses including property taxes, insurance and maintenance).</a:t>
            </a:r>
            <a:endParaRPr lang="en-US"/>
          </a:p>
          <a:p>
            <a:pPr marL="171450" indent="-171450">
              <a:buFont typeface="Arial" panose="020B0704020202020204" pitchFamily="34" charset="0"/>
              <a:buChar char="•"/>
            </a:pPr>
            <a:r>
              <a:rPr lang="en-US"/>
              <a:t>Net Absorbtion is the difference between Space occupied and the Sapce vacant from year to date (YTD) which means from the start uptil the end of reporting date.</a:t>
            </a:r>
            <a:endParaRPr lang="en-US"/>
          </a:p>
          <a:p>
            <a:pPr marL="171450" indent="-171450">
              <a:buFont typeface="Arial" panose="020B0704020202020204" pitchFamily="34" charset="0"/>
              <a:buChar char="•"/>
            </a:pPr>
            <a:r>
              <a:rPr lang="en-US"/>
              <a:t>Under Construction is the total amount of commercial real estate (Sf) that is physically being bulit but not yet completed as of the reporting date and once it is completed it moves from under construction into “Market Size” inventory.</a:t>
            </a:r>
            <a:endParaRPr lang="en-US"/>
          </a:p>
          <a:p>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pPr marL="171450" indent="-171450">
              <a:buFont typeface="Arial" panose="020B0704020202020204" pitchFamily="34" charset="0"/>
              <a:buChar char="•"/>
            </a:pPr>
            <a:r>
              <a:rPr lang="en-US"/>
              <a:t>Market size is the total available inventory includes vacant plus the occupied space. </a:t>
            </a:r>
            <a:endParaRPr lang="en-US"/>
          </a:p>
          <a:p>
            <a:pPr marL="171450" indent="-171450">
              <a:buFont typeface="Arial" panose="020B0704020202020204" pitchFamily="34" charset="0"/>
              <a:buChar char="•"/>
            </a:pPr>
            <a:r>
              <a:rPr lang="en-US"/>
              <a:t>Vacant Space is the amount of unoccupied or available commercial real estate space measured in square feet (SF) for a given quarter.</a:t>
            </a:r>
            <a:endParaRPr lang="en-US"/>
          </a:p>
          <a:p>
            <a:pPr marL="171450" indent="-171450">
              <a:buFont typeface="Arial" panose="020B0704020202020204" pitchFamily="34" charset="0"/>
              <a:buChar char="•"/>
            </a:pPr>
            <a:r>
              <a:rPr lang="en-US"/>
              <a:t>Overall Vacancy % is the portion of the total market size (SF) that is empty at the end of a quarter and measured as the ratio of Vacant space((SF) to the Market size (SF).</a:t>
            </a:r>
            <a:endParaRPr lang="en-US"/>
          </a:p>
          <a:p>
            <a:pPr marL="171450" indent="-171450">
              <a:buFont typeface="Arial" panose="020B0704020202020204" pitchFamily="34" charset="0"/>
              <a:buChar char="•"/>
            </a:pPr>
            <a:r>
              <a:rPr lang="en-US"/>
              <a:t>Asking rent NNN ($/Sf) is the rent landlords are advising per square foot, on a triple-net (NNN) lease basis, which means the tenant pays the Base Rent (in $/sf monthly or yearly) plus the operating expenses including property taxes, insurance and maintenance).</a:t>
            </a:r>
            <a:endParaRPr lang="en-US"/>
          </a:p>
          <a:p>
            <a:pPr marL="171450" indent="-171450">
              <a:buFont typeface="Arial" panose="020B0704020202020204" pitchFamily="34" charset="0"/>
              <a:buChar char="•"/>
            </a:pPr>
            <a:r>
              <a:rPr lang="en-US"/>
              <a:t>Net Absorbtion is the difference between Space occupied and the Sapce vacant from year to date (YTD) which means from the start uptil the end of reporting date.</a:t>
            </a:r>
            <a:endParaRPr lang="en-US"/>
          </a:p>
          <a:p>
            <a:pPr marL="171450" indent="-171450">
              <a:buFont typeface="Arial" panose="020B0704020202020204" pitchFamily="34" charset="0"/>
              <a:buChar char="•"/>
            </a:pPr>
            <a:r>
              <a:rPr lang="en-US"/>
              <a:t>Under Construction is the total amount of commercial real estate (Sf) that is physically being bulit but not yet completed as of the reporting date and once it is completed it moves from under construction into “Market Size” inventory.</a:t>
            </a:r>
            <a:endParaRPr lang="en-US"/>
          </a:p>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4500"/>
            </a:lvl1pPr>
          </a:lstStyle>
          <a:p>
            <a:r>
              <a:rPr lang="en-US" smtClean="0"/>
              <a:t>Click to edit Master title style</a:t>
            </a:r>
            <a:endParaRPr lang="en-US"/>
          </a:p>
        </p:txBody>
      </p:sp>
      <p:sp>
        <p:nvSpPr>
          <p:cNvPr id="3" name="Subtitle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nchor="b"/>
          <a:lstStyle>
            <a:lvl1pPr>
              <a:defRPr sz="4500"/>
            </a:lvl1pPr>
          </a:lstStyle>
          <a:p>
            <a:r>
              <a:rPr lang="en-US" smtClean="0"/>
              <a:t>Click to edit Master title style</a:t>
            </a:r>
            <a:endParaRPr lang="en-US"/>
          </a:p>
        </p:txBody>
      </p:sp>
      <p:sp>
        <p:nvSpPr>
          <p:cNvPr id="3" name="Text Placeholder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2504" cy="4525963"/>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54296" y="1600200"/>
            <a:ext cx="4032504" cy="4525963"/>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5"/>
            <a:ext cx="78867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629841"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629841" y="2505075"/>
            <a:ext cx="3868340"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29150" y="2505075"/>
            <a:ext cx="3887391"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smtClean="0"/>
              <a:t>Click to edit Master title style</a:t>
            </a:r>
            <a:endParaRPr lang="en-US"/>
          </a:p>
        </p:txBody>
      </p:sp>
      <p:sp>
        <p:nvSpPr>
          <p:cNvPr id="3" name="Content Placeholder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smtClean="0"/>
              <a:t>Click to edit Master title style</a:t>
            </a:r>
            <a:endParaRPr lang="en-US"/>
          </a:p>
        </p:txBody>
      </p:sp>
      <p:sp>
        <p:nvSpPr>
          <p:cNvPr id="3" name="Picture Placeholder 2"/>
          <p:cNvSpPr>
            <a:spLocks noGrp="1"/>
          </p:cNvSpPr>
          <p:nvPr>
            <p:ph type="pic" idx="1"/>
          </p:nvPr>
        </p:nvSpPr>
        <p:spPr>
          <a:xfrm>
            <a:off x="3887391" y="987425"/>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timing>
    <p:tnLst>
      <p:par>
        <p:cTn id="1" dur="indefinite" restart="never" nodeType="tmRoot"/>
      </p:par>
    </p:tnLst>
  </p:timing>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5293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hf sldNum="0" hdr="0" ftr="0" dt="0"/>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alpha val="100000"/>
          </a:schemeClr>
        </a:solidFill>
        <a:effectLst/>
      </p:bgPr>
    </p:bg>
    <p:spTree>
      <p:nvGrpSpPr>
        <p:cNvPr id="1" name=""/>
        <p:cNvGrpSpPr/>
        <p:nvPr/>
      </p:nvGrpSpPr>
      <p:grpSpPr/>
      <p:sp>
        <p:nvSpPr>
          <p:cNvPr id="1026" name="Title 1025"/>
          <p:cNvSpPr/>
          <p:nvPr>
            <p:ph type="title"/>
          </p:nvPr>
        </p:nvSpPr>
        <p:spPr>
          <a:xfrm>
            <a:off x="457200" y="274638"/>
            <a:ext cx="8229600" cy="1143000"/>
          </a:xfrm>
          <a:prstGeom prst="rect">
            <a:avLst/>
          </a:prstGeom>
          <a:noFill/>
          <a:ln w="9525">
            <a:noFill/>
          </a:ln>
        </p:spPr>
        <p:txBody>
          <a:bodyPr anchor="ctr" anchorCtr="0"/>
          <a:p>
            <a:pPr lvl="0"/>
            <a:r>
              <a:t>Click to edit Master title style</a:t>
            </a:r>
          </a:p>
        </p:txBody>
      </p:sp>
      <p:sp>
        <p:nvSpPr>
          <p:cNvPr id="1027" name="Text Placeholder 1026"/>
          <p:cNvSpPr/>
          <p:nvPr>
            <p:ph type="body" idx="1"/>
          </p:nvPr>
        </p:nvSpPr>
        <p:spPr>
          <a:xfrm>
            <a:off x="457200" y="1600200"/>
            <a:ext cx="8229600" cy="4525963"/>
          </a:xfrm>
          <a:prstGeom prst="rect">
            <a:avLst/>
          </a:prstGeom>
          <a:noFill/>
          <a:ln w="9525">
            <a:noFill/>
          </a:ln>
        </p:spPr>
        <p:txBody>
          <a:bodyPr/>
          <a:p>
            <a:pPr lvl="0"/>
            <a:r>
              <a:t>Click to edit Master text styles</a:t>
            </a:r>
          </a:p>
          <a:p>
            <a:pPr lvl="1"/>
            <a:r>
              <a:t>Second level</a:t>
            </a:r>
          </a:p>
          <a:p>
            <a:pPr lvl="2"/>
            <a:r>
              <a:t>Third level</a:t>
            </a:r>
          </a:p>
          <a:p>
            <a:pPr lvl="3"/>
            <a:r>
              <a:t>Fourth level</a:t>
            </a:r>
          </a:p>
          <a:p>
            <a:pPr lvl="4"/>
            <a:r>
              <a:t>Fifth level</a:t>
            </a:r>
          </a:p>
        </p:txBody>
      </p:sp>
      <p:sp>
        <p:nvSpPr>
          <p:cNvPr id="1028" name="Date Placeholder 1027"/>
          <p:cNvSpPr/>
          <p:nvPr>
            <p:ph type="dt" sz="half" idx="2"/>
          </p:nvPr>
        </p:nvSpPr>
        <p:spPr>
          <a:xfrm>
            <a:off x="457200" y="6245225"/>
            <a:ext cx="2133600" cy="476250"/>
          </a:xfrm>
          <a:prstGeom prst="rect">
            <a:avLst/>
          </a:prstGeom>
          <a:noFill/>
          <a:ln w="9525">
            <a:noFill/>
          </a:ln>
        </p:spPr>
        <p:txBody>
          <a:bodyPr/>
          <a:lstStyle>
            <a:lvl1pPr>
              <a:defRPr sz="1400"/>
            </a:lvl1pPr>
          </a:lstStyle>
          <a:p>
            <a:fld id="{5BCAD085-E8A6-8845-BD4E-CB4CCA059FC4}" type="datetimeFigureOut">
              <a:rPr lang="en-US" smtClean="0"/>
            </a:fld>
            <a:endParaRPr lang="en-US"/>
          </a:p>
        </p:txBody>
      </p:sp>
      <p:sp>
        <p:nvSpPr>
          <p:cNvPr id="1029" name="Footer Placeholder 1028"/>
          <p:cNvSpPr/>
          <p:nvPr>
            <p:ph type="ftr" sz="quarter" idx="3"/>
          </p:nvPr>
        </p:nvSpPr>
        <p:spPr>
          <a:xfrm>
            <a:off x="3124200" y="6245225"/>
            <a:ext cx="2895600" cy="476250"/>
          </a:xfrm>
          <a:prstGeom prst="rect">
            <a:avLst/>
          </a:prstGeom>
          <a:noFill/>
          <a:ln w="9525">
            <a:noFill/>
          </a:ln>
        </p:spPr>
        <p:txBody>
          <a:bodyPr/>
          <a:lstStyle>
            <a:lvl1pPr algn="ctr">
              <a:defRPr sz="1400"/>
            </a:lvl1pPr>
          </a:lstStyle>
          <a:p>
            <a:endParaRPr lang="en-US"/>
          </a:p>
        </p:txBody>
      </p:sp>
      <p:sp>
        <p:nvSpPr>
          <p:cNvPr id="1030" name="Slide Number Placeholder 1029"/>
          <p:cNvSpPr/>
          <p:nvPr>
            <p:ph type="sldNum" sz="quarter" idx="4"/>
          </p:nvPr>
        </p:nvSpPr>
        <p:spPr>
          <a:xfrm>
            <a:off x="6553200" y="6245225"/>
            <a:ext cx="2133600" cy="476250"/>
          </a:xfrm>
          <a:prstGeom prst="rect">
            <a:avLst/>
          </a:prstGeom>
          <a:noFill/>
          <a:ln w="9525">
            <a:noFill/>
          </a:ln>
        </p:spPr>
        <p:txBody>
          <a:bodyPr/>
          <a:lstStyle>
            <a:lvl1pPr algn="r">
              <a:defRPr sz="1400"/>
            </a:lvl1pPr>
          </a:lstStyle>
          <a:p>
            <a:fld id="{C1FF6DA9-008F-8B48-92A6-B652298478BF}"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marL="0" lvl="0" indent="0" algn="ctr" defTabSz="914400" eaLnBrk="1" fontAlgn="base" latinLnBrk="0" hangingPunct="1">
        <a:lnSpc>
          <a:spcPct val="100000"/>
        </a:lnSpc>
        <a:spcBef>
          <a:spcPct val="0"/>
        </a:spcBef>
        <a:spcAft>
          <a:spcPct val="0"/>
        </a:spcAft>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lnSpc>
          <a:spcPct val="100000"/>
        </a:lnSpc>
        <a:spcBef>
          <a:spcPct val="20000"/>
        </a:spcBef>
        <a:spcAft>
          <a:spcPct val="0"/>
        </a:spcAft>
        <a:buChar char="•"/>
        <a:defRPr sz="3200" b="0" i="0" u="none" kern="1200" baseline="0">
          <a:solidFill>
            <a:schemeClr val="tx1"/>
          </a:solidFill>
          <a:latin typeface="+mn-lt"/>
          <a:ea typeface="+mn-ea"/>
          <a:cs typeface="+mn-cs"/>
        </a:defRPr>
      </a:lvl1pPr>
      <a:lvl2pPr marL="742950" lvl="1" indent="-285750" algn="l" defTabSz="914400" eaLnBrk="1" fontAlgn="base" latinLnBrk="0" hangingPunct="1">
        <a:lnSpc>
          <a:spcPct val="100000"/>
        </a:lnSpc>
        <a:spcBef>
          <a:spcPct val="20000"/>
        </a:spcBef>
        <a:spcAft>
          <a:spcPct val="0"/>
        </a:spcAft>
        <a:buChar char="–"/>
        <a:defRPr sz="2800" b="0" i="0" u="none" kern="1200" baseline="0">
          <a:solidFill>
            <a:schemeClr val="tx1"/>
          </a:solidFill>
          <a:latin typeface="+mn-lt"/>
          <a:ea typeface="+mn-ea"/>
          <a:cs typeface="+mn-cs"/>
        </a:defRPr>
      </a:lvl2pPr>
      <a:lvl3pPr marL="1143000" lvl="2" indent="-228600" algn="l" defTabSz="914400" eaLnBrk="1" fontAlgn="base" latinLnBrk="0" hangingPunct="1">
        <a:lnSpc>
          <a:spcPct val="100000"/>
        </a:lnSpc>
        <a:spcBef>
          <a:spcPct val="20000"/>
        </a:spcBef>
        <a:spcAft>
          <a:spcPct val="0"/>
        </a:spcAft>
        <a:buChar char="•"/>
        <a:defRPr sz="2400" b="0" i="0" u="none" kern="1200" baseline="0">
          <a:solidFill>
            <a:schemeClr val="tx1"/>
          </a:solidFill>
          <a:latin typeface="+mn-lt"/>
          <a:ea typeface="+mn-ea"/>
          <a:cs typeface="+mn-cs"/>
        </a:defRPr>
      </a:lvl3pPr>
      <a:lvl4pPr marL="1600200" lvl="3"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4pPr>
      <a:lvl5pPr marL="2057400" lvl="4"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5pPr>
      <a:lvl6pPr marL="2514600" lvl="5"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6pPr>
      <a:lvl7pPr marL="2971800" lvl="6"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7pPr>
      <a:lvl8pPr marL="3429000" lvl="7"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8pPr>
      <a:lvl9pPr marL="3886200" lvl="8"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9pPr>
    </p:bodyStyle>
    <p:otherStyle>
      <a:lvl1pPr marL="0" lvl="0" indent="0" algn="l" defTabSz="914400" eaLnBrk="1" fontAlgn="base" latinLnBrk="0" hangingPunct="1">
        <a:lnSpc>
          <a:spcPct val="100000"/>
        </a:lnSpc>
        <a:spcBef>
          <a:spcPct val="0"/>
        </a:spcBef>
        <a:spcAft>
          <a:spcPct val="0"/>
        </a:spcAft>
        <a:buFont typeface="Arial" panose="020B0704020202020204" pitchFamily="34" charset="0"/>
        <a:buNone/>
        <a:defRPr sz="1800" b="0" i="0" u="none" kern="1200" baseline="0">
          <a:solidFill>
            <a:schemeClr val="tx1"/>
          </a:solidFill>
          <a:latin typeface="+mn-lt"/>
          <a:ea typeface="+mn-ea"/>
          <a:cs typeface="+mn-cs"/>
        </a:defRPr>
      </a:lvl1pPr>
      <a:lvl2pPr marL="457200" lvl="1" indent="0" algn="l" defTabSz="914400" eaLnBrk="1" fontAlgn="base" latinLnBrk="0" hangingPunct="1">
        <a:lnSpc>
          <a:spcPct val="100000"/>
        </a:lnSpc>
        <a:spcBef>
          <a:spcPct val="0"/>
        </a:spcBef>
        <a:spcAft>
          <a:spcPct val="0"/>
        </a:spcAft>
        <a:buFont typeface="Arial" panose="020B0704020202020204" pitchFamily="34" charset="0"/>
        <a:buNone/>
        <a:defRPr b="0" i="0" u="none" kern="1200" baseline="0">
          <a:solidFill>
            <a:schemeClr val="tx1"/>
          </a:solidFill>
          <a:latin typeface="Arial" panose="020B0704020202020204" pitchFamily="34" charset="0"/>
          <a:ea typeface="+mn-ea"/>
          <a:cs typeface="+mn-cs"/>
        </a:defRPr>
      </a:lvl2pPr>
      <a:lvl3pPr marL="914400" lvl="2" indent="0" algn="l" defTabSz="914400" eaLnBrk="1" fontAlgn="base" latinLnBrk="0" hangingPunct="1">
        <a:lnSpc>
          <a:spcPct val="100000"/>
        </a:lnSpc>
        <a:spcBef>
          <a:spcPct val="0"/>
        </a:spcBef>
        <a:spcAft>
          <a:spcPct val="0"/>
        </a:spcAft>
        <a:buFont typeface="Arial" panose="020B0704020202020204" pitchFamily="34" charset="0"/>
        <a:buNone/>
        <a:defRPr b="0" i="0" u="none" kern="1200" baseline="0">
          <a:solidFill>
            <a:schemeClr val="tx1"/>
          </a:solidFill>
          <a:latin typeface="Arial" panose="020B0704020202020204" pitchFamily="34" charset="0"/>
          <a:ea typeface="+mn-ea"/>
          <a:cs typeface="+mn-cs"/>
        </a:defRPr>
      </a:lvl3pPr>
      <a:lvl4pPr marL="1371600" lvl="3" indent="0" algn="l" defTabSz="914400" eaLnBrk="1" fontAlgn="base" latinLnBrk="0" hangingPunct="1">
        <a:lnSpc>
          <a:spcPct val="100000"/>
        </a:lnSpc>
        <a:spcBef>
          <a:spcPct val="0"/>
        </a:spcBef>
        <a:spcAft>
          <a:spcPct val="0"/>
        </a:spcAft>
        <a:buFont typeface="Arial" panose="020B0704020202020204" pitchFamily="34" charset="0"/>
        <a:buNone/>
        <a:defRPr b="0" i="0" u="none" kern="1200" baseline="0">
          <a:solidFill>
            <a:schemeClr val="tx1"/>
          </a:solidFill>
          <a:latin typeface="Arial" panose="020B0704020202020204" pitchFamily="34" charset="0"/>
          <a:ea typeface="+mn-ea"/>
          <a:cs typeface="+mn-cs"/>
        </a:defRPr>
      </a:lvl4pPr>
      <a:lvl5pPr marL="1828800" lvl="4" indent="0" algn="l" defTabSz="914400" eaLnBrk="1" fontAlgn="base" latinLnBrk="0" hangingPunct="1">
        <a:lnSpc>
          <a:spcPct val="100000"/>
        </a:lnSpc>
        <a:spcBef>
          <a:spcPct val="0"/>
        </a:spcBef>
        <a:spcAft>
          <a:spcPct val="0"/>
        </a:spcAft>
        <a:buFont typeface="Arial" panose="020B0704020202020204" pitchFamily="34" charset="0"/>
        <a:buNone/>
        <a:defRPr b="0" i="0" u="none" kern="1200" baseline="0">
          <a:solidFill>
            <a:schemeClr val="tx1"/>
          </a:solidFill>
          <a:latin typeface="Arial" panose="020B0704020202020204" pitchFamily="34" charset="0"/>
          <a:ea typeface="+mn-ea"/>
          <a:cs typeface="+mn-cs"/>
        </a:defRPr>
      </a:lvl5pPr>
      <a:lvl6pPr marL="2286000" lvl="5" indent="0" algn="l" defTabSz="914400" eaLnBrk="1" fontAlgn="base" latinLnBrk="0" hangingPunct="1">
        <a:lnSpc>
          <a:spcPct val="100000"/>
        </a:lnSpc>
        <a:spcBef>
          <a:spcPct val="0"/>
        </a:spcBef>
        <a:spcAft>
          <a:spcPct val="0"/>
        </a:spcAft>
        <a:buFont typeface="Arial" panose="020B0704020202020204" pitchFamily="34" charset="0"/>
        <a:buNone/>
        <a:defRPr b="0" i="0" u="none" kern="1200" baseline="0">
          <a:solidFill>
            <a:schemeClr val="tx1"/>
          </a:solidFill>
          <a:latin typeface="Arial" panose="020B0704020202020204" pitchFamily="34" charset="0"/>
          <a:ea typeface="+mn-ea"/>
          <a:cs typeface="+mn-cs"/>
        </a:defRPr>
      </a:lvl6pPr>
      <a:lvl7pPr marL="2743200" lvl="6" indent="0" algn="l" defTabSz="914400" eaLnBrk="1" fontAlgn="base" latinLnBrk="0" hangingPunct="1">
        <a:lnSpc>
          <a:spcPct val="100000"/>
        </a:lnSpc>
        <a:spcBef>
          <a:spcPct val="0"/>
        </a:spcBef>
        <a:spcAft>
          <a:spcPct val="0"/>
        </a:spcAft>
        <a:buFont typeface="Arial" panose="020B0704020202020204" pitchFamily="34" charset="0"/>
        <a:buNone/>
        <a:defRPr b="0" i="0" u="none" kern="1200" baseline="0">
          <a:solidFill>
            <a:schemeClr val="tx1"/>
          </a:solidFill>
          <a:latin typeface="Arial" panose="020B0704020202020204" pitchFamily="34" charset="0"/>
          <a:ea typeface="+mn-ea"/>
          <a:cs typeface="+mn-cs"/>
        </a:defRPr>
      </a:lvl7pPr>
      <a:lvl8pPr marL="3200400" lvl="7" indent="0" algn="l" defTabSz="914400" eaLnBrk="1" fontAlgn="base" latinLnBrk="0" hangingPunct="1">
        <a:lnSpc>
          <a:spcPct val="100000"/>
        </a:lnSpc>
        <a:spcBef>
          <a:spcPct val="0"/>
        </a:spcBef>
        <a:spcAft>
          <a:spcPct val="0"/>
        </a:spcAft>
        <a:buFont typeface="Arial" panose="020B0704020202020204" pitchFamily="34" charset="0"/>
        <a:buNone/>
        <a:defRPr b="0" i="0" u="none" kern="1200" baseline="0">
          <a:solidFill>
            <a:schemeClr val="tx1"/>
          </a:solidFill>
          <a:latin typeface="Arial" panose="020B0704020202020204" pitchFamily="34" charset="0"/>
          <a:ea typeface="+mn-ea"/>
          <a:cs typeface="+mn-cs"/>
        </a:defRPr>
      </a:lvl8pPr>
      <a:lvl9pPr marL="3657600" lvl="8" indent="0" algn="l" defTabSz="914400" eaLnBrk="1" fontAlgn="base" latinLnBrk="0" hangingPunct="1">
        <a:lnSpc>
          <a:spcPct val="100000"/>
        </a:lnSpc>
        <a:spcBef>
          <a:spcPct val="0"/>
        </a:spcBef>
        <a:spcAft>
          <a:spcPct val="0"/>
        </a:spcAft>
        <a:buFont typeface="Arial" panose="020B0704020202020204" pitchFamily="34" charset="0"/>
        <a:buNone/>
        <a:defRPr b="0" i="0" u="none" kern="1200" baseline="0">
          <a:solidFill>
            <a:schemeClr val="tx1"/>
          </a:solidFill>
          <a:latin typeface="Arial" panose="020B0704020202020204" pitchFamily="34" charset="0"/>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chart" Target="../charts/char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image" Target="../media/image2.png"/><Relationship Id="rId1" Type="http://schemas.openxmlformats.org/officeDocument/2006/relationships/image" Target="../media/image1.pn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3.pn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4.pn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5.pn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5">
                <a:lumMod val="50000"/>
              </a:schemeClr>
            </a:gs>
            <a:gs pos="100000">
              <a:schemeClr val="bg1"/>
            </a:gs>
          </a:gsLst>
          <a:lin ang="5400000" scaled="0"/>
        </a:gradFill>
        <a:effectLst/>
      </p:bgPr>
    </p:bg>
    <p:spTree>
      <p:nvGrpSpPr>
        <p:cNvPr id="1" name=""/>
        <p:cNvGrpSpPr/>
        <p:nvPr/>
      </p:nvGrpSpPr>
      <p:grpSpPr/>
      <p:sp>
        <p:nvSpPr>
          <p:cNvPr id="2" name="Title 1"/>
          <p:cNvSpPr>
            <a:spLocks noGrp="1"/>
          </p:cNvSpPr>
          <p:nvPr>
            <p:ph type="ctrTitle"/>
          </p:nvPr>
        </p:nvSpPr>
        <p:spPr>
          <a:xfrm>
            <a:off x="685800" y="1353185"/>
            <a:ext cx="7772400" cy="2247265"/>
          </a:xfrm>
        </p:spPr>
        <p:txBody>
          <a:bodyPr/>
          <a:lstStyle/>
          <a:p>
            <a:r>
              <a:rPr lang="en-US" sz="4000">
                <a:latin typeface="Times New Roman Regular" panose="02020603050405020304" charset="0"/>
                <a:cs typeface="Times New Roman Regular" panose="02020603050405020304" charset="0"/>
              </a:rPr>
              <a:t> </a:t>
            </a:r>
            <a:br>
              <a:rPr lang="en-US" sz="4000">
                <a:latin typeface="Times New Roman Regular" panose="02020603050405020304" charset="0"/>
                <a:cs typeface="Times New Roman Regular" panose="02020603050405020304" charset="0"/>
              </a:rPr>
            </a:br>
            <a:br>
              <a:rPr lang="en-US" sz="4000">
                <a:latin typeface="Times New Roman Regular" panose="02020603050405020304" charset="0"/>
                <a:cs typeface="Times New Roman Regular" panose="02020603050405020304" charset="0"/>
              </a:rPr>
            </a:br>
            <a:r>
              <a:rPr lang="en-US" sz="4000">
                <a:latin typeface="Times New Roman Regular" panose="02020603050405020304" charset="0"/>
                <a:cs typeface="Times New Roman Regular" panose="02020603050405020304" charset="0"/>
              </a:rPr>
              <a:t>Presentation of Fundamental </a:t>
            </a:r>
            <a:r>
              <a:rPr sz="4000">
                <a:latin typeface="Times New Roman Regular" panose="02020603050405020304" charset="0"/>
                <a:cs typeface="Times New Roman Regular" panose="02020603050405020304" charset="0"/>
              </a:rPr>
              <a:t>Market Metric</a:t>
            </a:r>
            <a:r>
              <a:rPr lang="en-US" sz="4000">
                <a:latin typeface="Times New Roman Regular" panose="02020603050405020304" charset="0"/>
                <a:cs typeface="Times New Roman Regular" panose="02020603050405020304" charset="0"/>
              </a:rPr>
              <a:t>s </a:t>
            </a:r>
            <a:br>
              <a:rPr lang="en-US" sz="4000">
                <a:latin typeface="Times New Roman Regular" panose="02020603050405020304" charset="0"/>
                <a:cs typeface="Times New Roman Regular" panose="02020603050405020304" charset="0"/>
              </a:rPr>
            </a:br>
            <a:r>
              <a:rPr sz="4000">
                <a:latin typeface="Times New Roman Regular" panose="02020603050405020304" charset="0"/>
                <a:cs typeface="Times New Roman Regular" panose="02020603050405020304" charset="0"/>
              </a:rPr>
              <a:t> </a:t>
            </a:r>
            <a:br>
              <a:rPr sz="4000">
                <a:latin typeface="Times New Roman Regular" panose="02020603050405020304" charset="0"/>
                <a:cs typeface="Times New Roman Regular" panose="02020603050405020304" charset="0"/>
              </a:rPr>
            </a:br>
            <a:endParaRPr sz="3200">
              <a:latin typeface="Times New Roman" panose="02020603050405020304" charset="0"/>
              <a:cs typeface="Times New Roman" panose="02020603050405020304" charset="0"/>
            </a:endParaRPr>
          </a:p>
        </p:txBody>
      </p:sp>
      <p:sp>
        <p:nvSpPr>
          <p:cNvPr id="3" name="Subtitle 2"/>
          <p:cNvSpPr>
            <a:spLocks noGrp="1"/>
          </p:cNvSpPr>
          <p:nvPr>
            <p:ph type="subTitle" idx="1"/>
          </p:nvPr>
        </p:nvSpPr>
        <p:spPr>
          <a:xfrm>
            <a:off x="823595" y="3127375"/>
            <a:ext cx="7177405" cy="2604135"/>
          </a:xfrm>
        </p:spPr>
        <p:txBody>
          <a:bodyPr/>
          <a:lstStyle/>
          <a:p>
            <a:endParaRPr>
              <a:solidFill>
                <a:schemeClr val="tx1"/>
              </a:solidFill>
              <a:latin typeface="Times New Roman Regular" panose="02020603050405020304" charset="0"/>
              <a:cs typeface="Times New Roman Regular" panose="02020603050405020304" charset="0"/>
            </a:endParaRPr>
          </a:p>
          <a:p>
            <a:r>
              <a:rPr lang="en-US" sz="3200">
                <a:latin typeface="Times New Roman" panose="02020603050405020304" charset="0"/>
                <a:cs typeface="Times New Roman" panose="02020603050405020304" charset="0"/>
                <a:sym typeface="+mn-ea"/>
              </a:rPr>
              <a:t>Sub Markets of </a:t>
            </a:r>
            <a:r>
              <a:rPr sz="3200">
                <a:latin typeface="Times New Roman" panose="02020603050405020304" charset="0"/>
                <a:cs typeface="Times New Roman" panose="02020603050405020304" charset="0"/>
                <a:sym typeface="+mn-ea"/>
              </a:rPr>
              <a:t>L</a:t>
            </a:r>
            <a:r>
              <a:rPr lang="en-US" sz="3200">
                <a:latin typeface="Times New Roman" panose="02020603050405020304" charset="0"/>
                <a:cs typeface="Times New Roman" panose="02020603050405020304" charset="0"/>
                <a:sym typeface="+mn-ea"/>
              </a:rPr>
              <a:t>os </a:t>
            </a:r>
            <a:r>
              <a:rPr sz="3200">
                <a:latin typeface="Times New Roman" panose="02020603050405020304" charset="0"/>
                <a:cs typeface="Times New Roman" panose="02020603050405020304" charset="0"/>
                <a:sym typeface="+mn-ea"/>
              </a:rPr>
              <a:t>A</a:t>
            </a:r>
            <a:r>
              <a:rPr lang="en-US" sz="3200">
                <a:latin typeface="Times New Roman" panose="02020603050405020304" charset="0"/>
                <a:cs typeface="Times New Roman" panose="02020603050405020304" charset="0"/>
                <a:sym typeface="+mn-ea"/>
              </a:rPr>
              <a:t>ngeles</a:t>
            </a:r>
            <a:r>
              <a:rPr sz="3200">
                <a:latin typeface="Times New Roman" panose="02020603050405020304" charset="0"/>
                <a:cs typeface="Times New Roman" panose="02020603050405020304" charset="0"/>
                <a:sym typeface="+mn-ea"/>
              </a:rPr>
              <a:t> </a:t>
            </a:r>
            <a:r>
              <a:rPr lang="en-US" sz="3200">
                <a:latin typeface="Times New Roman" panose="02020603050405020304" charset="0"/>
                <a:cs typeface="Times New Roman" panose="02020603050405020304" charset="0"/>
                <a:sym typeface="+mn-ea"/>
              </a:rPr>
              <a:t>Region </a:t>
            </a:r>
            <a:br>
              <a:rPr lang="en-US" sz="3200">
                <a:latin typeface="Times New Roman" panose="02020603050405020304" charset="0"/>
                <a:cs typeface="Times New Roman" panose="02020603050405020304" charset="0"/>
                <a:sym typeface="+mn-ea"/>
              </a:rPr>
            </a:br>
            <a:r>
              <a:rPr lang="en-US" sz="3200">
                <a:solidFill>
                  <a:schemeClr val="tx1"/>
                </a:solidFill>
                <a:latin typeface="Times New Roman Regular" panose="02020603050405020304" charset="0"/>
                <a:cs typeface="Times New Roman Regular" panose="02020603050405020304" charset="0"/>
              </a:rPr>
              <a:t> </a:t>
            </a:r>
            <a:r>
              <a:rPr sz="3200">
                <a:solidFill>
                  <a:schemeClr val="tx1"/>
                </a:solidFill>
                <a:latin typeface="Times New Roman Regular" panose="02020603050405020304" charset="0"/>
                <a:cs typeface="Times New Roman Regular" panose="02020603050405020304" charset="0"/>
              </a:rPr>
              <a:t>Quarter-over-Quarter Variance</a:t>
            </a:r>
            <a:r>
              <a:rPr lang="en-US" sz="3200">
                <a:solidFill>
                  <a:schemeClr val="tx1"/>
                </a:solidFill>
                <a:latin typeface="Times New Roman Regular" panose="02020603050405020304" charset="0"/>
                <a:cs typeface="Times New Roman Regular" panose="02020603050405020304" charset="0"/>
              </a:rPr>
              <a:t> </a:t>
            </a:r>
            <a:r>
              <a:rPr sz="3200">
                <a:solidFill>
                  <a:schemeClr val="tx1"/>
                </a:solidFill>
                <a:latin typeface="Times New Roman Regular" panose="02020603050405020304" charset="0"/>
                <a:cs typeface="Times New Roman Regular" panose="02020603050405020304" charset="0"/>
              </a:rPr>
              <a:t>Analysis</a:t>
            </a:r>
            <a:endParaRPr sz="3200">
              <a:solidFill>
                <a:schemeClr val="tx1"/>
              </a:solidFill>
              <a:latin typeface="Times New Roman Regular" panose="02020603050405020304" charset="0"/>
              <a:cs typeface="Times New Roman Regular" panose="02020603050405020304" charset="0"/>
            </a:endParaRPr>
          </a:p>
          <a:p>
            <a:endParaRPr lang="en-US" sz="2800">
              <a:solidFill>
                <a:schemeClr val="tx1"/>
              </a:solidFill>
              <a:latin typeface="Times New Roman Regular" panose="02020603050405020304" charset="0"/>
              <a:cs typeface="Times New Roman Regular" panose="02020603050405020304" charset="0"/>
              <a:sym typeface="+mn-ea"/>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a:gsLst>
            <a:gs pos="0">
              <a:schemeClr val="accent5">
                <a:lumMod val="50000"/>
              </a:schemeClr>
            </a:gs>
            <a:gs pos="100000">
              <a:schemeClr val="bg1"/>
            </a:gs>
          </a:gsLst>
          <a:lin ang="5400000" scaled="0"/>
        </a:gradFill>
        <a:effectLst/>
      </p:bgPr>
    </p:bg>
    <p:spTree>
      <p:nvGrpSpPr>
        <p:cNvPr id="1" name=""/>
        <p:cNvGrpSpPr/>
        <p:nvPr/>
      </p:nvGrpSpPr>
      <p:grpSpPr/>
      <p:sp>
        <p:nvSpPr>
          <p:cNvPr id="2" name="Title 1"/>
          <p:cNvSpPr>
            <a:spLocks noGrp="1"/>
          </p:cNvSpPr>
          <p:nvPr>
            <p:ph type="title"/>
          </p:nvPr>
        </p:nvSpPr>
        <p:spPr/>
        <p:txBody>
          <a:bodyPr/>
          <a:lstStyle/>
          <a:p>
            <a:r>
              <a:rPr lang="en-US" sz="3600">
                <a:latin typeface="Times New Roman Regular" panose="02020603050405020304" charset="0"/>
                <a:cs typeface="Times New Roman Regular" panose="02020603050405020304" charset="0"/>
              </a:rPr>
              <a:t>Key Market Metrics</a:t>
            </a:r>
            <a:endParaRPr lang="en-US" sz="3600">
              <a:latin typeface="Times New Roman Regular" panose="02020603050405020304" charset="0"/>
              <a:cs typeface="Times New Roman Regular" panose="02020603050405020304" charset="0"/>
            </a:endParaRPr>
          </a:p>
        </p:txBody>
      </p:sp>
      <p:sp>
        <p:nvSpPr>
          <p:cNvPr id="3" name="Content Placeholder 2"/>
          <p:cNvSpPr>
            <a:spLocks noGrp="1"/>
          </p:cNvSpPr>
          <p:nvPr>
            <p:ph idx="1"/>
          </p:nvPr>
        </p:nvSpPr>
        <p:spPr>
          <a:xfrm>
            <a:off x="457200" y="1082040"/>
            <a:ext cx="8229600" cy="5044440"/>
          </a:xfrm>
        </p:spPr>
        <p:txBody>
          <a:bodyPr/>
          <a:lstStyle/>
          <a:p>
            <a:pPr marL="0" indent="0">
              <a:buFont typeface="Wingdings" panose="05000000000000000000" charset="0"/>
              <a:buNone/>
            </a:pPr>
            <a:endParaRPr lang="en-US" sz="2400">
              <a:latin typeface="Times New Roman Regular" panose="02020603050405020304" charset="0"/>
              <a:cs typeface="Times New Roman Regular" panose="02020603050405020304" charset="0"/>
              <a:sym typeface="+mn-ea"/>
            </a:endParaRPr>
          </a:p>
          <a:p>
            <a:pPr>
              <a:buFont typeface="Wingdings" panose="05000000000000000000" charset="0"/>
              <a:buChar char=""/>
            </a:pPr>
            <a:r>
              <a:rPr lang="en-US" sz="2400">
                <a:latin typeface="Times New Roman Regular" panose="02020603050405020304" charset="0"/>
                <a:cs typeface="Times New Roman Regular" panose="02020603050405020304" charset="0"/>
                <a:sym typeface="+mn-ea"/>
              </a:rPr>
              <a:t>Market Size (A Inventory)</a:t>
            </a:r>
            <a:endParaRPr lang="en-US" sz="2400">
              <a:latin typeface="Times New Roman Regular" panose="02020603050405020304" charset="0"/>
              <a:cs typeface="Times New Roman Regular" panose="02020603050405020304" charset="0"/>
              <a:sym typeface="+mn-ea"/>
            </a:endParaRPr>
          </a:p>
          <a:p>
            <a:pPr>
              <a:buFont typeface="Wingdings" panose="05000000000000000000" charset="0"/>
              <a:buChar char=""/>
            </a:pPr>
            <a:endParaRPr lang="en-US" sz="2400">
              <a:latin typeface="Times New Roman Regular" panose="02020603050405020304" charset="0"/>
              <a:cs typeface="Times New Roman Regular" panose="02020603050405020304" charset="0"/>
              <a:sym typeface="+mn-ea"/>
            </a:endParaRPr>
          </a:p>
          <a:p>
            <a:pPr>
              <a:buFont typeface="Wingdings" panose="05000000000000000000" charset="0"/>
              <a:buChar char=""/>
            </a:pPr>
            <a:r>
              <a:rPr lang="en-US" sz="2400">
                <a:latin typeface="Times New Roman Regular" panose="02020603050405020304" charset="0"/>
                <a:cs typeface="Times New Roman Regular" panose="02020603050405020304" charset="0"/>
                <a:sym typeface="+mn-ea"/>
              </a:rPr>
              <a:t>Vacant Space (SF) Class A (A Overall vacancy SF)</a:t>
            </a:r>
            <a:endParaRPr lang="en-US" sz="2400">
              <a:latin typeface="Times New Roman Regular" panose="02020603050405020304" charset="0"/>
              <a:cs typeface="Times New Roman Regular" panose="02020603050405020304" charset="0"/>
              <a:sym typeface="+mn-ea"/>
            </a:endParaRPr>
          </a:p>
          <a:p>
            <a:pPr>
              <a:buFont typeface="Wingdings" panose="05000000000000000000" charset="0"/>
              <a:buChar char=""/>
            </a:pPr>
            <a:endParaRPr lang="en-US" sz="2400">
              <a:latin typeface="Times New Roman Regular" panose="02020603050405020304" charset="0"/>
              <a:cs typeface="Times New Roman Regular" panose="02020603050405020304" charset="0"/>
              <a:sym typeface="+mn-ea"/>
            </a:endParaRPr>
          </a:p>
          <a:p>
            <a:pPr>
              <a:buFont typeface="Wingdings" panose="05000000000000000000" charset="0"/>
              <a:buChar char=""/>
            </a:pPr>
            <a:r>
              <a:rPr lang="en-US" sz="2400">
                <a:latin typeface="Times New Roman Regular" panose="02020603050405020304" charset="0"/>
                <a:cs typeface="Times New Roman Regular" panose="02020603050405020304" charset="0"/>
                <a:sym typeface="+mn-ea"/>
              </a:rPr>
              <a:t>Overall vacancy % Class A</a:t>
            </a:r>
            <a:endParaRPr lang="en-US" sz="2400">
              <a:latin typeface="Times New Roman Regular" panose="02020603050405020304" charset="0"/>
              <a:cs typeface="Times New Roman Regular" panose="02020603050405020304" charset="0"/>
              <a:sym typeface="+mn-ea"/>
            </a:endParaRPr>
          </a:p>
          <a:p>
            <a:pPr>
              <a:buFont typeface="Wingdings" panose="05000000000000000000" charset="0"/>
              <a:buChar char=""/>
            </a:pPr>
            <a:endParaRPr lang="en-US" sz="2400">
              <a:latin typeface="Times New Roman Regular" panose="02020603050405020304" charset="0"/>
              <a:cs typeface="Times New Roman Regular" panose="02020603050405020304" charset="0"/>
              <a:sym typeface="+mn-ea"/>
            </a:endParaRPr>
          </a:p>
          <a:p>
            <a:pPr>
              <a:buFont typeface="Wingdings" panose="05000000000000000000" charset="0"/>
              <a:buChar char=""/>
            </a:pPr>
            <a:r>
              <a:rPr lang="en-US" sz="2400">
                <a:latin typeface="Times New Roman Regular" panose="02020603050405020304" charset="0"/>
                <a:cs typeface="Times New Roman Regular" panose="02020603050405020304" charset="0"/>
                <a:sym typeface="+mn-ea"/>
              </a:rPr>
              <a:t>Asking Rent NNN($/Sf) Class A</a:t>
            </a:r>
            <a:endParaRPr lang="en-US" sz="2400">
              <a:latin typeface="Times New Roman Regular" panose="02020603050405020304" charset="0"/>
              <a:cs typeface="Times New Roman Regular" panose="02020603050405020304" charset="0"/>
              <a:sym typeface="+mn-ea"/>
            </a:endParaRPr>
          </a:p>
          <a:p>
            <a:pPr>
              <a:buFont typeface="Wingdings" panose="05000000000000000000" charset="0"/>
              <a:buChar char=""/>
            </a:pPr>
            <a:endParaRPr lang="en-US" sz="2400">
              <a:latin typeface="Times New Roman Regular" panose="02020603050405020304" charset="0"/>
              <a:cs typeface="Times New Roman Regular" panose="02020603050405020304" charset="0"/>
              <a:sym typeface="+mn-ea"/>
            </a:endParaRPr>
          </a:p>
          <a:p>
            <a:pPr>
              <a:buFont typeface="Wingdings" panose="05000000000000000000" charset="0"/>
              <a:buChar char=""/>
            </a:pPr>
            <a:r>
              <a:rPr lang="en-US" sz="2400">
                <a:latin typeface="Times New Roman Regular" panose="02020603050405020304" charset="0"/>
                <a:cs typeface="Times New Roman Regular" panose="02020603050405020304" charset="0"/>
                <a:sym typeface="+mn-ea"/>
              </a:rPr>
              <a:t>023 YTD Net Absorption (SF)</a:t>
            </a:r>
            <a:endParaRPr lang="en-US" sz="2400">
              <a:latin typeface="Times New Roman Regular" panose="02020603050405020304" charset="0"/>
              <a:cs typeface="Times New Roman Regular" panose="02020603050405020304" charset="0"/>
              <a:sym typeface="+mn-ea"/>
            </a:endParaRPr>
          </a:p>
          <a:p>
            <a:pPr marL="0" indent="0">
              <a:buFont typeface="Wingdings" panose="05000000000000000000" charset="0"/>
              <a:buNone/>
            </a:pPr>
            <a:endParaRPr lang="en-US" sz="2400">
              <a:latin typeface="Times New Roman Regular" panose="02020603050405020304" charset="0"/>
              <a:cs typeface="Times New Roman Regular" panose="02020603050405020304" charset="0"/>
              <a:sym typeface="+mn-ea"/>
            </a:endParaRPr>
          </a:p>
          <a:p>
            <a:pPr>
              <a:buFont typeface="Wingdings" panose="05000000000000000000" charset="0"/>
              <a:buChar char=""/>
            </a:pPr>
            <a:r>
              <a:rPr lang="en-US" sz="2400">
                <a:latin typeface="Times New Roman Regular" panose="02020603050405020304" charset="0"/>
                <a:cs typeface="Times New Roman Regular" panose="02020603050405020304" charset="0"/>
                <a:sym typeface="+mn-ea"/>
              </a:rPr>
              <a:t>Under Construction (SF)</a:t>
            </a:r>
            <a:endParaRPr sz="2400">
              <a:latin typeface="Times New Roman Regular" panose="02020603050405020304" charset="0"/>
              <a:cs typeface="Times New Roman Regular" panose="02020603050405020304" charset="0"/>
              <a:sym typeface="+mn-ea"/>
            </a:endParaRPr>
          </a:p>
          <a:p>
            <a:pPr marL="0" indent="0">
              <a:buFont typeface="Wingdings" panose="05000000000000000000" charset="0"/>
              <a:buNone/>
            </a:pPr>
            <a:endParaRPr sz="2400">
              <a:latin typeface="Times New Roman Regular" panose="02020603050405020304" charset="0"/>
              <a:cs typeface="Times New Roman Regular" panose="0202060305040502030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a:gsLst>
            <a:gs pos="0">
              <a:schemeClr val="accent5">
                <a:lumMod val="50000"/>
              </a:schemeClr>
            </a:gs>
            <a:gs pos="100000">
              <a:schemeClr val="bg1"/>
            </a:gs>
          </a:gsLst>
          <a:lin ang="5400000" scaled="0"/>
        </a:gradFill>
        <a:effectLst/>
      </p:bgPr>
    </p:bg>
    <p:spTree>
      <p:nvGrpSpPr>
        <p:cNvPr id="1" name=""/>
        <p:cNvGrpSpPr/>
        <p:nvPr/>
      </p:nvGrpSpPr>
      <p:grpSpPr/>
      <p:graphicFrame>
        <p:nvGraphicFramePr>
          <p:cNvPr id="4" name="Content Placeholder 3"/>
          <p:cNvGraphicFramePr/>
          <p:nvPr>
            <p:ph idx="1"/>
          </p:nvPr>
        </p:nvGraphicFramePr>
        <p:xfrm>
          <a:off x="239395" y="117475"/>
          <a:ext cx="8613140" cy="6741160"/>
        </p:xfrm>
        <a:graphic>
          <a:graphicData uri="http://schemas.openxmlformats.org/drawingml/2006/chart">
            <c:chart xmlns:c="http://schemas.openxmlformats.org/drawingml/2006/chart" xmlns:r="http://schemas.openxmlformats.org/officeDocument/2006/relationships" r:id="rId1"/>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a:gsLst>
            <a:gs pos="0">
              <a:schemeClr val="accent5">
                <a:lumMod val="50000"/>
              </a:schemeClr>
            </a:gs>
            <a:gs pos="100000">
              <a:schemeClr val="bg1"/>
            </a:gs>
          </a:gsLst>
          <a:lin ang="5400000" scaled="0"/>
        </a:gradFill>
        <a:effectLst/>
      </p:bgPr>
    </p:bg>
    <p:spTree>
      <p:nvGrpSpPr>
        <p:cNvPr id="1" name=""/>
        <p:cNvGrpSpPr/>
        <p:nvPr/>
      </p:nvGrpSpPr>
      <p:grpSpPr/>
      <p:sp>
        <p:nvSpPr>
          <p:cNvPr id="2" name="Title 1"/>
          <p:cNvSpPr>
            <a:spLocks noGrp="1"/>
          </p:cNvSpPr>
          <p:nvPr>
            <p:ph type="title"/>
          </p:nvPr>
        </p:nvSpPr>
        <p:spPr/>
        <p:txBody>
          <a:bodyPr/>
          <a:lstStyle/>
          <a:p>
            <a:r>
              <a:rPr lang="en-US" sz="3600">
                <a:latin typeface="Times New Roman Regular" panose="02020603050405020304" charset="0"/>
                <a:cs typeface="Times New Roman Regular" panose="02020603050405020304" charset="0"/>
              </a:rPr>
              <a:t>Sub-Markets Comparison</a:t>
            </a:r>
            <a:endParaRPr lang="en-US" sz="3600">
              <a:latin typeface="Times New Roman Regular" panose="02020603050405020304" charset="0"/>
              <a:cs typeface="Times New Roman Regular" panose="02020603050405020304" charset="0"/>
            </a:endParaRPr>
          </a:p>
        </p:txBody>
      </p:sp>
      <p:sp>
        <p:nvSpPr>
          <p:cNvPr id="3" name="Content Placeholder 2"/>
          <p:cNvSpPr>
            <a:spLocks noGrp="1"/>
          </p:cNvSpPr>
          <p:nvPr>
            <p:ph idx="1"/>
          </p:nvPr>
        </p:nvSpPr>
        <p:spPr>
          <a:xfrm>
            <a:off x="457200" y="1082040"/>
            <a:ext cx="8229600" cy="5044440"/>
          </a:xfrm>
        </p:spPr>
        <p:txBody>
          <a:bodyPr/>
          <a:lstStyle/>
          <a:p>
            <a:pPr marL="0" indent="0">
              <a:buFont typeface="Wingdings" panose="05000000000000000000" charset="0"/>
              <a:buNone/>
            </a:pPr>
            <a:endParaRPr lang="en-US" sz="2400">
              <a:latin typeface="Times New Roman Regular" panose="02020603050405020304" charset="0"/>
              <a:cs typeface="Times New Roman Regular" panose="02020603050405020304" charset="0"/>
              <a:sym typeface="+mn-ea"/>
            </a:endParaRPr>
          </a:p>
          <a:p>
            <a:pPr marL="0" indent="0">
              <a:buFont typeface="Wingdings" panose="05000000000000000000" charset="0"/>
              <a:buNone/>
            </a:pPr>
            <a:r>
              <a:rPr lang="en-US" altLang="en-US" sz="2400">
                <a:latin typeface="Times New Roman Regular" panose="02020603050405020304" charset="0"/>
                <a:cs typeface="Times New Roman Regular" panose="02020603050405020304" charset="0"/>
              </a:rPr>
              <a:t>1. West LA dominates in size but suffers high vacancy and worst absorption</a:t>
            </a:r>
            <a:endParaRPr lang="en-US" altLang="en-US" sz="2400">
              <a:latin typeface="Times New Roman Regular" panose="02020603050405020304" charset="0"/>
              <a:cs typeface="Times New Roman Regular" panose="02020603050405020304" charset="0"/>
            </a:endParaRPr>
          </a:p>
          <a:p>
            <a:pPr marL="0" indent="0">
              <a:buFont typeface="Wingdings" panose="05000000000000000000" charset="0"/>
              <a:buNone/>
            </a:pPr>
            <a:r>
              <a:rPr lang="" altLang="en-US" sz="2400">
                <a:latin typeface="Times New Roman Regular" panose="02020603050405020304" charset="0"/>
                <a:cs typeface="Times New Roman Regular" panose="02020603050405020304" charset="0"/>
              </a:rPr>
              <a:t>    </a:t>
            </a:r>
            <a:r>
              <a:rPr lang="en-US" altLang="en-US" sz="2400">
                <a:latin typeface="Times New Roman Regular" panose="02020603050405020304" charset="0"/>
                <a:cs typeface="Times New Roman Regular" panose="02020603050405020304" charset="0"/>
              </a:rPr>
              <a:t>•</a:t>
            </a:r>
            <a:r>
              <a:rPr lang="" altLang="en-US" sz="2400">
                <a:latin typeface="Times New Roman Regular" panose="02020603050405020304" charset="0"/>
                <a:cs typeface="Times New Roman Regular" panose="02020603050405020304" charset="0"/>
              </a:rPr>
              <a:t>    </a:t>
            </a:r>
            <a:r>
              <a:rPr lang="en-US" altLang="en-US" sz="2400">
                <a:latin typeface="Times New Roman Regular" panose="02020603050405020304" charset="0"/>
                <a:cs typeface="Times New Roman Regular" panose="02020603050405020304" charset="0"/>
              </a:rPr>
              <a:t>Reason: West LA is the largest market (46.6M SF), but demand has not kept pace with supply.</a:t>
            </a:r>
            <a:endParaRPr lang="en-US" altLang="en-US" sz="2400">
              <a:latin typeface="Times New Roman Regular" panose="02020603050405020304" charset="0"/>
              <a:cs typeface="Times New Roman Regular" panose="02020603050405020304" charset="0"/>
            </a:endParaRPr>
          </a:p>
          <a:p>
            <a:pPr marL="0" indent="0">
              <a:buFont typeface="Wingdings" panose="05000000000000000000" charset="0"/>
              <a:buNone/>
            </a:pPr>
            <a:r>
              <a:rPr lang="" altLang="en-US" sz="2400">
                <a:latin typeface="Times New Roman Regular" panose="02020603050405020304" charset="0"/>
                <a:cs typeface="Times New Roman Regular" panose="02020603050405020304" charset="0"/>
              </a:rPr>
              <a:t>    </a:t>
            </a:r>
            <a:r>
              <a:rPr lang="en-US" altLang="en-US" sz="2400">
                <a:latin typeface="Times New Roman Regular" panose="02020603050405020304" charset="0"/>
                <a:cs typeface="Times New Roman Regular" panose="02020603050405020304" charset="0"/>
              </a:rPr>
              <a:t>•</a:t>
            </a:r>
            <a:r>
              <a:rPr lang="" altLang="en-US" sz="2400">
                <a:latin typeface="Times New Roman Regular" panose="02020603050405020304" charset="0"/>
                <a:cs typeface="Times New Roman Regular" panose="02020603050405020304" charset="0"/>
              </a:rPr>
              <a:t>    </a:t>
            </a:r>
            <a:r>
              <a:rPr lang="en-US" altLang="en-US" sz="2400">
                <a:latin typeface="Times New Roman Regular" panose="02020603050405020304" charset="0"/>
                <a:cs typeface="Times New Roman Regular" panose="02020603050405020304" charset="0"/>
              </a:rPr>
              <a:t>Tenants are either downsizing or relocating, leading to negative net absorption (-1.05M SF YTD).</a:t>
            </a:r>
            <a:endParaRPr lang="en-US" altLang="en-US" sz="2400">
              <a:latin typeface="Times New Roman Regular" panose="02020603050405020304" charset="0"/>
              <a:cs typeface="Times New Roman Regular" panose="02020603050405020304" charset="0"/>
            </a:endParaRPr>
          </a:p>
          <a:p>
            <a:pPr marL="0" indent="0">
              <a:buFont typeface="Wingdings" panose="05000000000000000000" charset="0"/>
              <a:buNone/>
            </a:pPr>
            <a:r>
              <a:rPr lang="" altLang="en-US" sz="2400">
                <a:latin typeface="Times New Roman Regular" panose="02020603050405020304" charset="0"/>
                <a:cs typeface="Times New Roman Regular" panose="02020603050405020304" charset="0"/>
              </a:rPr>
              <a:t>    </a:t>
            </a:r>
            <a:r>
              <a:rPr lang="en-US" altLang="en-US" sz="2400">
                <a:latin typeface="Times New Roman Regular" panose="02020603050405020304" charset="0"/>
                <a:cs typeface="Times New Roman Regular" panose="02020603050405020304" charset="0"/>
              </a:rPr>
              <a:t>•</a:t>
            </a:r>
            <a:r>
              <a:rPr lang="" altLang="en-US" sz="2400">
                <a:latin typeface="Times New Roman Regular" panose="02020603050405020304" charset="0"/>
                <a:cs typeface="Times New Roman Regular" panose="02020603050405020304" charset="0"/>
              </a:rPr>
              <a:t>    </a:t>
            </a:r>
            <a:r>
              <a:rPr lang="en-US" altLang="en-US" sz="2400">
                <a:latin typeface="Times New Roman Regular" panose="02020603050405020304" charset="0"/>
                <a:cs typeface="Times New Roman Regular" panose="02020603050405020304" charset="0"/>
              </a:rPr>
              <a:t>Vacancy rose despite a small rent increase ($52.00 → $52.25), showing landlords are holding firm on pricing but struggling to fill space.</a:t>
            </a:r>
            <a:endParaRPr lang="en-US" altLang="en-US" sz="2400">
              <a:latin typeface="Times New Roman Regular" panose="02020603050405020304" charset="0"/>
              <a:cs typeface="Times New Roman Regular" panose="02020603050405020304" charset="0"/>
            </a:endParaRPr>
          </a:p>
          <a:p>
            <a:pPr marL="0" indent="0">
              <a:buFont typeface="Wingdings" panose="05000000000000000000" charset="0"/>
              <a:buNone/>
            </a:pPr>
            <a:r>
              <a:rPr lang="" altLang="en-US" sz="2400">
                <a:latin typeface="Times New Roman Regular" panose="02020603050405020304" charset="0"/>
                <a:cs typeface="Times New Roman Regular" panose="02020603050405020304" charset="0"/>
              </a:rPr>
              <a:t>    </a:t>
            </a:r>
            <a:r>
              <a:rPr lang="en-US" altLang="en-US" sz="2400">
                <a:latin typeface="Times New Roman Regular" panose="02020603050405020304" charset="0"/>
                <a:cs typeface="Times New Roman Regular" panose="02020603050405020304" charset="0"/>
              </a:rPr>
              <a:t>•</a:t>
            </a:r>
            <a:r>
              <a:rPr lang="" altLang="en-US" sz="2400">
                <a:latin typeface="Times New Roman Regular" panose="02020603050405020304" charset="0"/>
                <a:cs typeface="Times New Roman Regular" panose="02020603050405020304" charset="0"/>
              </a:rPr>
              <a:t>    </a:t>
            </a:r>
            <a:r>
              <a:rPr lang="en-US" altLang="en-US" sz="2400">
                <a:latin typeface="Times New Roman Regular" panose="02020603050405020304" charset="0"/>
                <a:cs typeface="Times New Roman Regular" panose="02020603050405020304" charset="0"/>
              </a:rPr>
              <a:t>Takeaway: Oversupply risk in the largest submarket.</a:t>
            </a:r>
            <a:endParaRPr lang="en-US" altLang="en-US" sz="2400">
              <a:latin typeface="Times New Roman Regular" panose="02020603050405020304" charset="0"/>
              <a:cs typeface="Times New Roman Regular" panose="02020603050405020304" charset="0"/>
            </a:endParaRPr>
          </a:p>
          <a:p>
            <a:pPr marL="0" indent="0">
              <a:buFont typeface="Wingdings" panose="05000000000000000000" charset="0"/>
              <a:buNone/>
            </a:pPr>
            <a:endParaRPr lang="en-US" altLang="en-US" sz="2400">
              <a:latin typeface="Times New Roman Regular" panose="02020603050405020304" charset="0"/>
              <a:cs typeface="Times New Roman Regular" panose="0202060305040502030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gradFill>
          <a:gsLst>
            <a:gs pos="0">
              <a:schemeClr val="accent5">
                <a:lumMod val="50000"/>
              </a:schemeClr>
            </a:gs>
            <a:gs pos="100000">
              <a:schemeClr val="bg1"/>
            </a:gs>
          </a:gsLst>
          <a:lin ang="5400000" scaled="0"/>
        </a:gradFill>
        <a:effectLst/>
      </p:bgPr>
    </p:bg>
    <p:spTree>
      <p:nvGrpSpPr>
        <p:cNvPr id="1" name=""/>
        <p:cNvGrpSpPr/>
        <p:nvPr/>
      </p:nvGrpSpPr>
      <p:grpSpPr/>
      <p:sp>
        <p:nvSpPr>
          <p:cNvPr id="3" name="Content Placeholder 2"/>
          <p:cNvSpPr>
            <a:spLocks noGrp="1"/>
          </p:cNvSpPr>
          <p:nvPr>
            <p:ph idx="1"/>
          </p:nvPr>
        </p:nvSpPr>
        <p:spPr>
          <a:xfrm>
            <a:off x="457200" y="1082040"/>
            <a:ext cx="8229600" cy="5044440"/>
          </a:xfrm>
        </p:spPr>
        <p:txBody>
          <a:bodyPr/>
          <a:lstStyle/>
          <a:p>
            <a:pPr marL="0" indent="0">
              <a:buFont typeface="Wingdings" panose="05000000000000000000" charset="0"/>
              <a:buNone/>
            </a:pPr>
            <a:r>
              <a:rPr lang="en-US" altLang="en-US" sz="2400">
                <a:latin typeface="Times New Roman Regular" panose="02020603050405020304" charset="0"/>
                <a:cs typeface="Times New Roman Regular" panose="02020603050405020304" charset="0"/>
              </a:rPr>
              <a:t>2. Tri-Cities is the best performer (low vacancy, high rents, positive absorption)</a:t>
            </a:r>
            <a:endParaRPr lang="en-US" altLang="en-US" sz="2400">
              <a:latin typeface="Times New Roman Regular" panose="02020603050405020304" charset="0"/>
              <a:cs typeface="Times New Roman Regular" panose="02020603050405020304" charset="0"/>
            </a:endParaRPr>
          </a:p>
          <a:p>
            <a:pPr marL="0" indent="0">
              <a:buFont typeface="Wingdings" panose="05000000000000000000" charset="0"/>
              <a:buNone/>
            </a:pPr>
            <a:r>
              <a:rPr lang="" altLang="en-US" sz="2400">
                <a:latin typeface="Times New Roman Regular" panose="02020603050405020304" charset="0"/>
                <a:cs typeface="Times New Roman Regular" panose="02020603050405020304" charset="0"/>
              </a:rPr>
              <a:t>    </a:t>
            </a:r>
            <a:r>
              <a:rPr lang="en-US" altLang="en-US" sz="2400">
                <a:latin typeface="Times New Roman Regular" panose="02020603050405020304" charset="0"/>
                <a:cs typeface="Times New Roman Regular" panose="02020603050405020304" charset="0"/>
              </a:rPr>
              <a:t>•</a:t>
            </a:r>
            <a:r>
              <a:rPr lang="" altLang="en-US" sz="2400">
                <a:latin typeface="Times New Roman Regular" panose="02020603050405020304" charset="0"/>
                <a:cs typeface="Times New Roman Regular" panose="02020603050405020304" charset="0"/>
              </a:rPr>
              <a:t>    </a:t>
            </a:r>
            <a:r>
              <a:rPr lang="en-US" altLang="en-US" sz="2400">
                <a:latin typeface="Times New Roman Regular" panose="02020603050405020304" charset="0"/>
                <a:cs typeface="Times New Roman Regular" panose="02020603050405020304" charset="0"/>
              </a:rPr>
              <a:t>Reason: Tri-Cities (20.4M SF) absorbed +489K SF YTD, which reduced vacancy slightly.</a:t>
            </a:r>
            <a:endParaRPr lang="en-US" altLang="en-US" sz="2400">
              <a:latin typeface="Times New Roman Regular" panose="02020603050405020304" charset="0"/>
              <a:cs typeface="Times New Roman Regular" panose="02020603050405020304" charset="0"/>
            </a:endParaRPr>
          </a:p>
          <a:p>
            <a:pPr marL="0" indent="0">
              <a:buFont typeface="Wingdings" panose="05000000000000000000" charset="0"/>
              <a:buNone/>
            </a:pPr>
            <a:r>
              <a:rPr lang="" altLang="en-US" sz="2400">
                <a:latin typeface="Times New Roman Regular" panose="02020603050405020304" charset="0"/>
                <a:cs typeface="Times New Roman Regular" panose="02020603050405020304" charset="0"/>
              </a:rPr>
              <a:t>    </a:t>
            </a:r>
            <a:r>
              <a:rPr lang="en-US" altLang="en-US" sz="2400">
                <a:latin typeface="Times New Roman Regular" panose="02020603050405020304" charset="0"/>
                <a:cs typeface="Times New Roman Regular" panose="02020603050405020304" charset="0"/>
              </a:rPr>
              <a:t>•</a:t>
            </a:r>
            <a:r>
              <a:rPr lang="" altLang="en-US" sz="2400">
                <a:latin typeface="Times New Roman Regular" panose="02020603050405020304" charset="0"/>
                <a:cs typeface="Times New Roman Regular" panose="02020603050405020304" charset="0"/>
              </a:rPr>
              <a:t>    </a:t>
            </a:r>
            <a:r>
              <a:rPr lang="en-US" altLang="en-US" sz="2400">
                <a:latin typeface="Times New Roman Regular" panose="02020603050405020304" charset="0"/>
                <a:cs typeface="Times New Roman Regular" panose="02020603050405020304" charset="0"/>
              </a:rPr>
              <a:t>Strong demand supports high asking rents ($45.50/SF) even after a decline from Q3 ($56.50 → $45.50).</a:t>
            </a:r>
            <a:endParaRPr lang="en-US" altLang="en-US" sz="2400">
              <a:latin typeface="Times New Roman Regular" panose="02020603050405020304" charset="0"/>
              <a:cs typeface="Times New Roman Regular" panose="02020603050405020304" charset="0"/>
            </a:endParaRPr>
          </a:p>
          <a:p>
            <a:pPr marL="0" indent="0">
              <a:buFont typeface="Wingdings" panose="05000000000000000000" charset="0"/>
              <a:buNone/>
            </a:pPr>
            <a:r>
              <a:rPr lang="" altLang="en-US" sz="2400">
                <a:latin typeface="Times New Roman Regular" panose="02020603050405020304" charset="0"/>
                <a:cs typeface="Times New Roman Regular" panose="02020603050405020304" charset="0"/>
              </a:rPr>
              <a:t>    </a:t>
            </a:r>
            <a:r>
              <a:rPr lang="en-US" altLang="en-US" sz="2400">
                <a:latin typeface="Times New Roman Regular" panose="02020603050405020304" charset="0"/>
                <a:cs typeface="Times New Roman Regular" panose="02020603050405020304" charset="0"/>
              </a:rPr>
              <a:t>•</a:t>
            </a:r>
            <a:r>
              <a:rPr lang="" altLang="en-US" sz="2400">
                <a:latin typeface="Times New Roman Regular" panose="02020603050405020304" charset="0"/>
                <a:cs typeface="Times New Roman Regular" panose="02020603050405020304" charset="0"/>
              </a:rPr>
              <a:t>    </a:t>
            </a:r>
            <a:r>
              <a:rPr lang="en-US" altLang="en-US" sz="2400">
                <a:latin typeface="Times New Roman Regular" panose="02020603050405020304" charset="0"/>
                <a:cs typeface="Times New Roman Regular" panose="02020603050405020304" charset="0"/>
              </a:rPr>
              <a:t>Tenants likely value this submarket for its accessibility and business clustering effect.</a:t>
            </a:r>
            <a:endParaRPr lang="en-US" altLang="en-US" sz="2400">
              <a:latin typeface="Times New Roman Regular" panose="02020603050405020304" charset="0"/>
              <a:cs typeface="Times New Roman Regular" panose="02020603050405020304" charset="0"/>
            </a:endParaRPr>
          </a:p>
          <a:p>
            <a:pPr marL="0" indent="0">
              <a:buFont typeface="Wingdings" panose="05000000000000000000" charset="0"/>
              <a:buNone/>
            </a:pPr>
            <a:r>
              <a:rPr lang="" altLang="en-US" sz="2400">
                <a:latin typeface="Times New Roman Regular" panose="02020603050405020304" charset="0"/>
                <a:cs typeface="Times New Roman Regular" panose="02020603050405020304" charset="0"/>
              </a:rPr>
              <a:t>    </a:t>
            </a:r>
            <a:r>
              <a:rPr lang="en-US" altLang="en-US" sz="2400">
                <a:latin typeface="Times New Roman Regular" panose="02020603050405020304" charset="0"/>
                <a:cs typeface="Times New Roman Regular" panose="02020603050405020304" charset="0"/>
              </a:rPr>
              <a:t>•</a:t>
            </a:r>
            <a:r>
              <a:rPr lang="" altLang="en-US" sz="2400">
                <a:latin typeface="Times New Roman Regular" panose="02020603050405020304" charset="0"/>
                <a:cs typeface="Times New Roman Regular" panose="02020603050405020304" charset="0"/>
              </a:rPr>
              <a:t>    </a:t>
            </a:r>
            <a:r>
              <a:rPr lang="en-US" altLang="en-US" sz="2400">
                <a:latin typeface="Times New Roman Regular" panose="02020603050405020304" charset="0"/>
                <a:cs typeface="Times New Roman Regular" panose="02020603050405020304" charset="0"/>
              </a:rPr>
              <a:t>Takeaway: A healthy submarket with continued tenant interest despite minor rent correction.</a:t>
            </a:r>
            <a:endParaRPr lang="en-US" altLang="en-US" sz="2400">
              <a:latin typeface="Times New Roman Regular" panose="02020603050405020304" charset="0"/>
              <a:cs typeface="Times New Roman Regular" panose="02020603050405020304" charset="0"/>
            </a:endParaRPr>
          </a:p>
          <a:p>
            <a:pPr marL="0" indent="0">
              <a:buFont typeface="Wingdings" panose="05000000000000000000" charset="0"/>
              <a:buNone/>
            </a:pPr>
            <a:endParaRPr lang="en-US" altLang="en-US" sz="2400">
              <a:latin typeface="Times New Roman Regular" panose="02020603050405020304" charset="0"/>
              <a:cs typeface="Times New Roman Regular" panose="0202060305040502030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gradFill>
          <a:gsLst>
            <a:gs pos="0">
              <a:schemeClr val="accent5">
                <a:lumMod val="50000"/>
              </a:schemeClr>
            </a:gs>
            <a:gs pos="100000">
              <a:schemeClr val="bg1"/>
            </a:gs>
          </a:gsLst>
          <a:lin ang="5400000" scaled="0"/>
        </a:gradFill>
        <a:effectLst/>
      </p:bgPr>
    </p:bg>
    <p:spTree>
      <p:nvGrpSpPr>
        <p:cNvPr id="1" name=""/>
        <p:cNvGrpSpPr/>
        <p:nvPr/>
      </p:nvGrpSpPr>
      <p:grpSpPr/>
      <p:sp>
        <p:nvSpPr>
          <p:cNvPr id="3" name="Content Placeholder 2"/>
          <p:cNvSpPr>
            <a:spLocks noGrp="1"/>
          </p:cNvSpPr>
          <p:nvPr>
            <p:ph idx="1"/>
          </p:nvPr>
        </p:nvSpPr>
        <p:spPr>
          <a:xfrm>
            <a:off x="457200" y="1082040"/>
            <a:ext cx="8229600" cy="5044440"/>
          </a:xfrm>
        </p:spPr>
        <p:txBody>
          <a:bodyPr/>
          <a:lstStyle/>
          <a:p>
            <a:pPr marL="0" indent="0">
              <a:buFont typeface="Wingdings" panose="05000000000000000000" charset="0"/>
              <a:buNone/>
            </a:pPr>
            <a:r>
              <a:rPr lang="en-US" altLang="en-US" sz="2400">
                <a:latin typeface="Times New Roman Regular" panose="02020603050405020304" charset="0"/>
                <a:cs typeface="Times New Roman Regular" panose="02020603050405020304" charset="0"/>
              </a:rPr>
              <a:t>3. Hollywood/Wilshire is the weakest submarket (highest vacancy, falling rents)</a:t>
            </a:r>
            <a:endParaRPr lang="en-US" altLang="en-US" sz="2400">
              <a:latin typeface="Times New Roman Regular" panose="02020603050405020304" charset="0"/>
              <a:cs typeface="Times New Roman Regular" panose="02020603050405020304" charset="0"/>
            </a:endParaRPr>
          </a:p>
          <a:p>
            <a:pPr marL="0" indent="0">
              <a:buFont typeface="Wingdings" panose="05000000000000000000" charset="0"/>
              <a:buNone/>
            </a:pPr>
            <a:r>
              <a:rPr lang="" altLang="en-US" sz="2400">
                <a:latin typeface="Times New Roman Regular" panose="02020603050405020304" charset="0"/>
                <a:cs typeface="Times New Roman Regular" panose="02020603050405020304" charset="0"/>
              </a:rPr>
              <a:t>    </a:t>
            </a:r>
            <a:r>
              <a:rPr lang="en-US" altLang="en-US" sz="2400">
                <a:latin typeface="Times New Roman Regular" panose="02020603050405020304" charset="0"/>
                <a:cs typeface="Times New Roman Regular" panose="02020603050405020304" charset="0"/>
              </a:rPr>
              <a:t>•</a:t>
            </a:r>
            <a:r>
              <a:rPr lang="" altLang="en-US" sz="2400">
                <a:latin typeface="Times New Roman Regular" panose="02020603050405020304" charset="0"/>
                <a:cs typeface="Times New Roman Regular" panose="02020603050405020304" charset="0"/>
              </a:rPr>
              <a:t>    </a:t>
            </a:r>
            <a:r>
              <a:rPr lang="en-US" altLang="en-US" sz="2400">
                <a:latin typeface="Times New Roman Regular" panose="02020603050405020304" charset="0"/>
                <a:cs typeface="Times New Roman Regular" panose="02020603050405020304" charset="0"/>
              </a:rPr>
              <a:t>Reason: With only 7.1M SF of inventory, Hollywood/Wilshire is the smallest market, but still has 28.6% vacancy (~2M SF empty).</a:t>
            </a:r>
            <a:endParaRPr lang="en-US" altLang="en-US" sz="2400">
              <a:latin typeface="Times New Roman Regular" panose="02020603050405020304" charset="0"/>
              <a:cs typeface="Times New Roman Regular" panose="02020603050405020304" charset="0"/>
            </a:endParaRPr>
          </a:p>
          <a:p>
            <a:pPr marL="0" indent="0">
              <a:buFont typeface="Wingdings" panose="05000000000000000000" charset="0"/>
              <a:buNone/>
            </a:pPr>
            <a:r>
              <a:rPr lang="" altLang="en-US" sz="2400">
                <a:latin typeface="Times New Roman Regular" panose="02020603050405020304" charset="0"/>
                <a:cs typeface="Times New Roman Regular" panose="02020603050405020304" charset="0"/>
              </a:rPr>
              <a:t>    </a:t>
            </a:r>
            <a:r>
              <a:rPr lang="en-US" altLang="en-US" sz="2400">
                <a:latin typeface="Times New Roman Regular" panose="02020603050405020304" charset="0"/>
                <a:cs typeface="Times New Roman Regular" panose="02020603050405020304" charset="0"/>
              </a:rPr>
              <a:t>•</a:t>
            </a:r>
            <a:r>
              <a:rPr lang="" altLang="en-US" sz="2400">
                <a:latin typeface="Times New Roman Regular" panose="02020603050405020304" charset="0"/>
                <a:cs typeface="Times New Roman Regular" panose="02020603050405020304" charset="0"/>
              </a:rPr>
              <a:t>    </a:t>
            </a:r>
            <a:r>
              <a:rPr lang="en-US" altLang="en-US" sz="2400">
                <a:latin typeface="Times New Roman Regular" panose="02020603050405020304" charset="0"/>
                <a:cs typeface="Times New Roman Regular" panose="02020603050405020304" charset="0"/>
              </a:rPr>
              <a:t>Rents fell sharply ($34.50 → $31.25), suggesting landlords are cutting rates to attract tenants.</a:t>
            </a:r>
            <a:endParaRPr lang="en-US" altLang="en-US" sz="2400">
              <a:latin typeface="Times New Roman Regular" panose="02020603050405020304" charset="0"/>
              <a:cs typeface="Times New Roman Regular" panose="02020603050405020304" charset="0"/>
            </a:endParaRPr>
          </a:p>
          <a:p>
            <a:pPr marL="0" indent="0">
              <a:buFont typeface="Wingdings" panose="05000000000000000000" charset="0"/>
              <a:buNone/>
            </a:pPr>
            <a:r>
              <a:rPr lang="" altLang="en-US" sz="2400">
                <a:latin typeface="Times New Roman Regular" panose="02020603050405020304" charset="0"/>
                <a:cs typeface="Times New Roman Regular" panose="02020603050405020304" charset="0"/>
              </a:rPr>
              <a:t>    </a:t>
            </a:r>
            <a:r>
              <a:rPr lang="en-US" altLang="en-US" sz="2400">
                <a:latin typeface="Times New Roman Regular" panose="02020603050405020304" charset="0"/>
                <a:cs typeface="Times New Roman Regular" panose="02020603050405020304" charset="0"/>
              </a:rPr>
              <a:t>•</a:t>
            </a:r>
            <a:r>
              <a:rPr lang="" altLang="en-US" sz="2400">
                <a:latin typeface="Times New Roman Regular" panose="02020603050405020304" charset="0"/>
                <a:cs typeface="Times New Roman Regular" panose="02020603050405020304" charset="0"/>
              </a:rPr>
              <a:t>    </a:t>
            </a:r>
            <a:r>
              <a:rPr lang="en-US" altLang="en-US" sz="2400">
                <a:latin typeface="Times New Roman Regular" panose="02020603050405020304" charset="0"/>
                <a:cs typeface="Times New Roman Regular" panose="02020603050405020304" charset="0"/>
              </a:rPr>
              <a:t>Net absorption was negative (-197K SF), meaning more space vacated than leased.</a:t>
            </a:r>
            <a:endParaRPr lang="en-US" altLang="en-US" sz="2400">
              <a:latin typeface="Times New Roman Regular" panose="02020603050405020304" charset="0"/>
              <a:cs typeface="Times New Roman Regular" panose="02020603050405020304" charset="0"/>
            </a:endParaRPr>
          </a:p>
          <a:p>
            <a:pPr marL="0" indent="0">
              <a:buFont typeface="Wingdings" panose="05000000000000000000" charset="0"/>
              <a:buNone/>
            </a:pPr>
            <a:r>
              <a:rPr lang="" altLang="en-US" sz="2400">
                <a:latin typeface="Times New Roman Regular" panose="02020603050405020304" charset="0"/>
                <a:cs typeface="Times New Roman Regular" panose="02020603050405020304" charset="0"/>
              </a:rPr>
              <a:t>    </a:t>
            </a:r>
            <a:r>
              <a:rPr lang="en-US" altLang="en-US" sz="2400">
                <a:latin typeface="Times New Roman Regular" panose="02020603050405020304" charset="0"/>
                <a:cs typeface="Times New Roman Regular" panose="02020603050405020304" charset="0"/>
              </a:rPr>
              <a:t>•</a:t>
            </a:r>
            <a:r>
              <a:rPr lang="" altLang="en-US" sz="2400">
                <a:latin typeface="Times New Roman Regular" panose="02020603050405020304" charset="0"/>
                <a:cs typeface="Times New Roman Regular" panose="02020603050405020304" charset="0"/>
              </a:rPr>
              <a:t>    </a:t>
            </a:r>
            <a:r>
              <a:rPr lang="en-US" altLang="en-US" sz="2400">
                <a:latin typeface="Times New Roman Regular" panose="02020603050405020304" charset="0"/>
                <a:cs typeface="Times New Roman Regular" panose="02020603050405020304" charset="0"/>
              </a:rPr>
              <a:t>Takeaway: Weak demand and limited tenant interest, underperforming relative to its size.</a:t>
            </a:r>
            <a:endParaRPr lang="en-US" altLang="en-US" sz="2400">
              <a:latin typeface="Times New Roman Regular" panose="02020603050405020304" charset="0"/>
              <a:cs typeface="Times New Roman Regular" panose="02020603050405020304" charset="0"/>
            </a:endParaRPr>
          </a:p>
          <a:p>
            <a:pPr marL="0" indent="0">
              <a:buFont typeface="Wingdings" panose="05000000000000000000" charset="0"/>
              <a:buNone/>
            </a:pPr>
            <a:endParaRPr lang="en-US" altLang="en-US" sz="2400">
              <a:latin typeface="Times New Roman Regular" panose="02020603050405020304" charset="0"/>
              <a:cs typeface="Times New Roman Regular" panose="0202060305040502030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gradFill>
          <a:gsLst>
            <a:gs pos="0">
              <a:schemeClr val="accent5">
                <a:lumMod val="50000"/>
              </a:schemeClr>
            </a:gs>
            <a:gs pos="100000">
              <a:schemeClr val="bg1"/>
            </a:gs>
          </a:gsLst>
          <a:lin ang="5400000" scaled="0"/>
        </a:gradFill>
        <a:effectLst/>
      </p:bgPr>
    </p:bg>
    <p:spTree>
      <p:nvGrpSpPr>
        <p:cNvPr id="1" name=""/>
        <p:cNvGrpSpPr/>
        <p:nvPr/>
      </p:nvGrpSpPr>
      <p:grpSpPr/>
      <p:sp>
        <p:nvSpPr>
          <p:cNvPr id="3" name="Content Placeholder 2"/>
          <p:cNvSpPr>
            <a:spLocks noGrp="1"/>
          </p:cNvSpPr>
          <p:nvPr>
            <p:ph idx="1"/>
          </p:nvPr>
        </p:nvSpPr>
        <p:spPr>
          <a:xfrm>
            <a:off x="457200" y="1082040"/>
            <a:ext cx="8229600" cy="5044440"/>
          </a:xfrm>
        </p:spPr>
        <p:txBody>
          <a:bodyPr/>
          <a:lstStyle/>
          <a:p>
            <a:pPr marL="0" indent="0">
              <a:buFont typeface="Wingdings" panose="05000000000000000000" charset="0"/>
              <a:buNone/>
            </a:pPr>
            <a:r>
              <a:rPr lang="en-US" altLang="en-US" sz="2400">
                <a:latin typeface="Times New Roman Regular" panose="02020603050405020304" charset="0"/>
                <a:cs typeface="Times New Roman Regular" panose="02020603050405020304" charset="0"/>
              </a:rPr>
              <a:t> LA CBD stable in size, weak absorption, flat rents</a:t>
            </a:r>
            <a:endParaRPr lang="en-US" altLang="en-US" sz="2400">
              <a:latin typeface="Times New Roman Regular" panose="02020603050405020304" charset="0"/>
              <a:cs typeface="Times New Roman Regular" panose="02020603050405020304" charset="0"/>
            </a:endParaRPr>
          </a:p>
          <a:p>
            <a:pPr marL="0" indent="0">
              <a:buFont typeface="Wingdings" panose="05000000000000000000" charset="0"/>
              <a:buNone/>
            </a:pPr>
            <a:r>
              <a:rPr lang="" altLang="en-US" sz="2400">
                <a:latin typeface="Times New Roman Regular" panose="02020603050405020304" charset="0"/>
                <a:cs typeface="Times New Roman Regular" panose="02020603050405020304" charset="0"/>
              </a:rPr>
              <a:t>    </a:t>
            </a:r>
            <a:r>
              <a:rPr lang="en-US" altLang="en-US" sz="2400">
                <a:latin typeface="Times New Roman Regular" panose="02020603050405020304" charset="0"/>
                <a:cs typeface="Times New Roman Regular" panose="02020603050405020304" charset="0"/>
              </a:rPr>
              <a:t>•</a:t>
            </a:r>
            <a:r>
              <a:rPr lang="" altLang="en-US" sz="2400">
                <a:latin typeface="Times New Roman Regular" panose="02020603050405020304" charset="0"/>
                <a:cs typeface="Times New Roman Regular" panose="02020603050405020304" charset="0"/>
              </a:rPr>
              <a:t>    </a:t>
            </a:r>
            <a:r>
              <a:rPr lang="en-US" altLang="en-US" sz="2400">
                <a:latin typeface="Times New Roman Regular" panose="02020603050405020304" charset="0"/>
                <a:cs typeface="Times New Roman Regular" panose="02020603050405020304" charset="0"/>
              </a:rPr>
              <a:t>Reason: LA CBD has a large base (24.1M SF), but vacancy stayed high (25.3%).</a:t>
            </a:r>
            <a:endParaRPr lang="en-US" altLang="en-US" sz="2400">
              <a:latin typeface="Times New Roman Regular" panose="02020603050405020304" charset="0"/>
              <a:cs typeface="Times New Roman Regular" panose="02020603050405020304" charset="0"/>
            </a:endParaRPr>
          </a:p>
          <a:p>
            <a:pPr marL="0" indent="0">
              <a:buFont typeface="Wingdings" panose="05000000000000000000" charset="0"/>
              <a:buNone/>
            </a:pPr>
            <a:r>
              <a:rPr lang="" altLang="en-US" sz="2400">
                <a:latin typeface="Times New Roman Regular" panose="02020603050405020304" charset="0"/>
                <a:cs typeface="Times New Roman Regular" panose="02020603050405020304" charset="0"/>
              </a:rPr>
              <a:t>    </a:t>
            </a:r>
            <a:r>
              <a:rPr lang="en-US" altLang="en-US" sz="2400">
                <a:latin typeface="Times New Roman Regular" panose="02020603050405020304" charset="0"/>
                <a:cs typeface="Times New Roman Regular" panose="02020603050405020304" charset="0"/>
              </a:rPr>
              <a:t>•</a:t>
            </a:r>
            <a:r>
              <a:rPr lang="" altLang="en-US" sz="2400">
                <a:latin typeface="Times New Roman Regular" panose="02020603050405020304" charset="0"/>
                <a:cs typeface="Times New Roman Regular" panose="02020603050405020304" charset="0"/>
              </a:rPr>
              <a:t>    </a:t>
            </a:r>
            <a:r>
              <a:rPr lang="en-US" altLang="en-US" sz="2400">
                <a:latin typeface="Times New Roman Regular" panose="02020603050405020304" charset="0"/>
                <a:cs typeface="Times New Roman Regular" panose="02020603050405020304" charset="0"/>
              </a:rPr>
              <a:t>Asking rents flat at $29.00, showing landlords are reluctant to lower pricing despite weak absorption (-703K SF).</a:t>
            </a:r>
            <a:endParaRPr lang="en-US" altLang="en-US" sz="2400">
              <a:latin typeface="Times New Roman Regular" panose="02020603050405020304" charset="0"/>
              <a:cs typeface="Times New Roman Regular" panose="02020603050405020304" charset="0"/>
            </a:endParaRPr>
          </a:p>
          <a:p>
            <a:pPr marL="0" indent="0">
              <a:buFont typeface="Wingdings" panose="05000000000000000000" charset="0"/>
              <a:buNone/>
            </a:pPr>
            <a:r>
              <a:rPr lang="" altLang="en-US" sz="2400">
                <a:latin typeface="Times New Roman Regular" panose="02020603050405020304" charset="0"/>
                <a:cs typeface="Times New Roman Regular" panose="02020603050405020304" charset="0"/>
              </a:rPr>
              <a:t>    </a:t>
            </a:r>
            <a:r>
              <a:rPr lang="en-US" altLang="en-US" sz="2400">
                <a:latin typeface="Times New Roman Regular" panose="02020603050405020304" charset="0"/>
                <a:cs typeface="Times New Roman Regular" panose="02020603050405020304" charset="0"/>
              </a:rPr>
              <a:t>•</a:t>
            </a:r>
            <a:r>
              <a:rPr lang="" altLang="en-US" sz="2400">
                <a:latin typeface="Times New Roman Regular" panose="02020603050405020304" charset="0"/>
                <a:cs typeface="Times New Roman Regular" panose="02020603050405020304" charset="0"/>
              </a:rPr>
              <a:t>    </a:t>
            </a:r>
            <a:r>
              <a:rPr lang="en-US" altLang="en-US" sz="2400">
                <a:latin typeface="Times New Roman Regular" panose="02020603050405020304" charset="0"/>
                <a:cs typeface="Times New Roman Regular" panose="02020603050405020304" charset="0"/>
              </a:rPr>
              <a:t>Likely reflects tenant preference for suburban submarkets with lower costs and newer product.</a:t>
            </a:r>
            <a:endParaRPr lang="en-US" altLang="en-US" sz="2400">
              <a:latin typeface="Times New Roman Regular" panose="02020603050405020304" charset="0"/>
              <a:cs typeface="Times New Roman Regular" panose="02020603050405020304" charset="0"/>
            </a:endParaRPr>
          </a:p>
          <a:p>
            <a:pPr marL="0" indent="0">
              <a:buFont typeface="Wingdings" panose="05000000000000000000" charset="0"/>
              <a:buNone/>
            </a:pPr>
            <a:r>
              <a:rPr lang="" altLang="en-US" sz="2400">
                <a:latin typeface="Times New Roman Regular" panose="02020603050405020304" charset="0"/>
                <a:cs typeface="Times New Roman Regular" panose="02020603050405020304" charset="0"/>
              </a:rPr>
              <a:t>    </a:t>
            </a:r>
            <a:r>
              <a:rPr lang="en-US" altLang="en-US" sz="2400">
                <a:latin typeface="Times New Roman Regular" panose="02020603050405020304" charset="0"/>
                <a:cs typeface="Times New Roman Regular" panose="02020603050405020304" charset="0"/>
              </a:rPr>
              <a:t>•</a:t>
            </a:r>
            <a:r>
              <a:rPr lang="" altLang="en-US" sz="2400">
                <a:latin typeface="Times New Roman Regular" panose="02020603050405020304" charset="0"/>
                <a:cs typeface="Times New Roman Regular" panose="02020603050405020304" charset="0"/>
              </a:rPr>
              <a:t>    </a:t>
            </a:r>
            <a:r>
              <a:rPr lang="en-US" altLang="en-US" sz="2400">
                <a:latin typeface="Times New Roman Regular" panose="02020603050405020304" charset="0"/>
                <a:cs typeface="Times New Roman Regular" panose="02020603050405020304" charset="0"/>
              </a:rPr>
              <a:t>Takeaway: Downtown is stagnant—stable pricing but not absorbing vacant space.</a:t>
            </a:r>
            <a:endParaRPr lang="en-US" altLang="en-US" sz="2400">
              <a:latin typeface="Times New Roman Regular" panose="02020603050405020304" charset="0"/>
              <a:cs typeface="Times New Roman Regular" panose="02020603050405020304" charset="0"/>
            </a:endParaRPr>
          </a:p>
          <a:p>
            <a:pPr marL="0" indent="0">
              <a:buFont typeface="Wingdings" panose="05000000000000000000" charset="0"/>
              <a:buNone/>
            </a:pPr>
            <a:endParaRPr lang="en-US" altLang="en-US" sz="2400">
              <a:latin typeface="Times New Roman Regular" panose="02020603050405020304" charset="0"/>
              <a:cs typeface="Times New Roman Regular" panose="02020603050405020304"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gradFill>
          <a:gsLst>
            <a:gs pos="0">
              <a:schemeClr val="accent5">
                <a:lumMod val="50000"/>
              </a:schemeClr>
            </a:gs>
            <a:gs pos="100000">
              <a:schemeClr val="bg1"/>
            </a:gs>
          </a:gsLst>
          <a:lin ang="5400000" scaled="0"/>
        </a:gradFill>
        <a:effectLst/>
      </p:bgPr>
    </p:bg>
    <p:spTree>
      <p:nvGrpSpPr>
        <p:cNvPr id="1" name=""/>
        <p:cNvGrpSpPr/>
        <p:nvPr/>
      </p:nvGrpSpPr>
      <p:grpSpPr/>
      <p:sp>
        <p:nvSpPr>
          <p:cNvPr id="4" name="Text Box 3"/>
          <p:cNvSpPr txBox="1"/>
          <p:nvPr/>
        </p:nvSpPr>
        <p:spPr>
          <a:xfrm>
            <a:off x="831215" y="1028700"/>
            <a:ext cx="6972935" cy="4686935"/>
          </a:xfrm>
          <a:prstGeom prst="rect">
            <a:avLst/>
          </a:prstGeom>
          <a:noFill/>
        </p:spPr>
        <p:txBody>
          <a:bodyPr wrap="square" rtlCol="0" anchor="t">
            <a:noAutofit/>
          </a:bodyPr>
          <a:p>
            <a:r>
              <a:rPr lang="en-US" altLang="en-US"/>
              <a:t>5. El Segundo/Beach Cities volatile: rising vacancy, slight rent decline</a:t>
            </a:r>
            <a:endParaRPr lang="en-US" altLang="en-US"/>
          </a:p>
          <a:p>
            <a:r>
              <a:rPr lang="" altLang="en-US"/>
              <a:t>    </a:t>
            </a:r>
            <a:r>
              <a:rPr lang="en-US" altLang="en-US"/>
              <a:t>•</a:t>
            </a:r>
            <a:r>
              <a:rPr lang="" altLang="en-US"/>
              <a:t>    </a:t>
            </a:r>
            <a:r>
              <a:rPr lang="en-US" altLang="en-US"/>
              <a:t>Reason: Smaller market (8.05M SF) but volatile demand. Vacancy jumped from 1.93M → 2.22M SF, raising vacancy % to 27.6%.</a:t>
            </a:r>
            <a:endParaRPr lang="en-US" altLang="en-US"/>
          </a:p>
          <a:p>
            <a:r>
              <a:rPr lang="" altLang="en-US"/>
              <a:t>    </a:t>
            </a:r>
            <a:r>
              <a:rPr lang="en-US" altLang="en-US"/>
              <a:t>•</a:t>
            </a:r>
            <a:r>
              <a:rPr lang="" altLang="en-US"/>
              <a:t>    </a:t>
            </a:r>
            <a:r>
              <a:rPr lang="en-US" altLang="en-US"/>
              <a:t>Rent declined slightly ($36.25 → $35.00), signaling landlords adjusting expectations.</a:t>
            </a:r>
            <a:endParaRPr lang="en-US" altLang="en-US"/>
          </a:p>
          <a:p>
            <a:r>
              <a:rPr lang="" altLang="en-US"/>
              <a:t>    </a:t>
            </a:r>
            <a:r>
              <a:rPr lang="en-US" altLang="en-US"/>
              <a:t>•</a:t>
            </a:r>
            <a:r>
              <a:rPr lang="" altLang="en-US"/>
              <a:t>    </a:t>
            </a:r>
            <a:r>
              <a:rPr lang="en-US" altLang="en-US"/>
              <a:t>Despite positive YTD absorption (+149K SF), the Q4 vacancy increase shows late-year tenant move-outs outweighed gains.</a:t>
            </a:r>
            <a:endParaRPr lang="en-US" altLang="en-US"/>
          </a:p>
          <a:p>
            <a:r>
              <a:rPr lang="" altLang="en-US"/>
              <a:t>    </a:t>
            </a:r>
            <a:r>
              <a:rPr lang="en-US" altLang="en-US"/>
              <a:t>•</a:t>
            </a:r>
            <a:r>
              <a:rPr lang="" altLang="en-US"/>
              <a:t>    </a:t>
            </a:r>
            <a:r>
              <a:rPr lang="en-US" altLang="en-US"/>
              <a:t>Takeaway: Unstable submarket with swings between leasing gains and tenant exits.</a:t>
            </a:r>
            <a:endParaRPr lang="en-US" altLang="en-US"/>
          </a:p>
          <a:p>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gradFill>
          <a:gsLst>
            <a:gs pos="0">
              <a:schemeClr val="accent5">
                <a:lumMod val="50000"/>
              </a:schemeClr>
            </a:gs>
            <a:gs pos="100000">
              <a:schemeClr val="bg1"/>
            </a:gs>
          </a:gsLst>
          <a:lin ang="5400000" scaled="0"/>
        </a:gradFill>
        <a:effectLst/>
      </p:bgPr>
    </p:bg>
    <p:spTree>
      <p:nvGrpSpPr>
        <p:cNvPr id="1" name=""/>
        <p:cNvGrpSpPr/>
        <p:nvPr/>
      </p:nvGrpSpPr>
      <p:grpSpPr/>
      <p:sp>
        <p:nvSpPr>
          <p:cNvPr id="2" name="Title 1"/>
          <p:cNvSpPr>
            <a:spLocks noGrp="1"/>
          </p:cNvSpPr>
          <p:nvPr>
            <p:ph type="title"/>
          </p:nvPr>
        </p:nvSpPr>
        <p:spPr/>
        <p:txBody>
          <a:bodyPr/>
          <a:lstStyle/>
          <a:p>
            <a:r>
              <a:rPr sz="3600">
                <a:latin typeface="Times New Roman Regular" panose="02020603050405020304" charset="0"/>
                <a:cs typeface="Times New Roman Regular" panose="02020603050405020304" charset="0"/>
              </a:rPr>
              <a:t>Standout Negative Trend – West LA</a:t>
            </a:r>
            <a:endParaRPr sz="3600">
              <a:latin typeface="Times New Roman Regular" panose="02020603050405020304" charset="0"/>
              <a:cs typeface="Times New Roman Regular" panose="02020603050405020304" charset="0"/>
            </a:endParaRPr>
          </a:p>
        </p:txBody>
      </p:sp>
      <p:sp>
        <p:nvSpPr>
          <p:cNvPr id="3" name="Content Placeholder 2"/>
          <p:cNvSpPr>
            <a:spLocks noGrp="1"/>
          </p:cNvSpPr>
          <p:nvPr>
            <p:ph idx="1"/>
          </p:nvPr>
        </p:nvSpPr>
        <p:spPr>
          <a:xfrm>
            <a:off x="457200" y="1652905"/>
            <a:ext cx="8229600" cy="4473575"/>
          </a:xfrm>
        </p:spPr>
        <p:txBody>
          <a:bodyPr/>
          <a:lstStyle/>
          <a:p>
            <a:pPr>
              <a:buFont typeface="Wingdings" panose="05000000000000000000" charset="0"/>
              <a:buChar char=""/>
            </a:pPr>
            <a:r>
              <a:rPr sz="2400">
                <a:latin typeface="Times New Roman Regular" panose="02020603050405020304" charset="0"/>
                <a:cs typeface="Times New Roman Regular" panose="02020603050405020304" charset="0"/>
              </a:rPr>
              <a:t>Metric: Asking Rent (NNN $/SF Class A)</a:t>
            </a:r>
            <a:endParaRPr sz="2400">
              <a:latin typeface="Times New Roman Regular" panose="02020603050405020304" charset="0"/>
              <a:cs typeface="Times New Roman Regular" panose="02020603050405020304" charset="0"/>
            </a:endParaRPr>
          </a:p>
          <a:p>
            <a:pPr marL="0" indent="0">
              <a:buFont typeface="Wingdings" panose="05000000000000000000" charset="0"/>
              <a:buNone/>
            </a:pPr>
            <a:endParaRPr sz="2400">
              <a:latin typeface="Times New Roman Regular" panose="02020603050405020304" charset="0"/>
              <a:cs typeface="Times New Roman Regular" panose="02020603050405020304" charset="0"/>
            </a:endParaRPr>
          </a:p>
          <a:p>
            <a:pPr>
              <a:buFont typeface="Wingdings" panose="05000000000000000000" charset="0"/>
              <a:buChar char=""/>
            </a:pPr>
            <a:r>
              <a:rPr lang="en-US" sz="2400">
                <a:latin typeface="Times New Roman Regular" panose="02020603050405020304" charset="0"/>
                <a:cs typeface="Times New Roman Regular" panose="02020603050405020304" charset="0"/>
              </a:rPr>
              <a:t>3</a:t>
            </a:r>
            <a:r>
              <a:rPr sz="2400">
                <a:latin typeface="Times New Roman Regular" panose="02020603050405020304" charset="0"/>
                <a:cs typeface="Times New Roman Regular" panose="02020603050405020304" charset="0"/>
              </a:rPr>
              <a:t>Q</a:t>
            </a:r>
            <a:r>
              <a:rPr lang="en-US" sz="2400">
                <a:latin typeface="Times New Roman Regular" panose="02020603050405020304" charset="0"/>
                <a:cs typeface="Times New Roman Regular" panose="02020603050405020304" charset="0"/>
              </a:rPr>
              <a:t>2</a:t>
            </a:r>
            <a:r>
              <a:rPr sz="2400">
                <a:latin typeface="Times New Roman Regular" panose="02020603050405020304" charset="0"/>
                <a:cs typeface="Times New Roman Regular" panose="02020603050405020304" charset="0"/>
              </a:rPr>
              <a:t>3: $41.50 | </a:t>
            </a:r>
            <a:r>
              <a:rPr lang="en-US" sz="2400">
                <a:latin typeface="Times New Roman Regular" panose="02020603050405020304" charset="0"/>
                <a:cs typeface="Times New Roman Regular" panose="02020603050405020304" charset="0"/>
              </a:rPr>
              <a:t>4</a:t>
            </a:r>
            <a:r>
              <a:rPr sz="2400">
                <a:latin typeface="Times New Roman Regular" panose="02020603050405020304" charset="0"/>
                <a:cs typeface="Times New Roman Regular" panose="02020603050405020304" charset="0"/>
              </a:rPr>
              <a:t>Q</a:t>
            </a:r>
            <a:r>
              <a:rPr lang="en-US" sz="2400">
                <a:latin typeface="Times New Roman Regular" panose="02020603050405020304" charset="0"/>
                <a:cs typeface="Times New Roman Regular" panose="02020603050405020304" charset="0"/>
              </a:rPr>
              <a:t>23</a:t>
            </a:r>
            <a:r>
              <a:rPr sz="2400">
                <a:latin typeface="Times New Roman Regular" panose="02020603050405020304" charset="0"/>
                <a:cs typeface="Times New Roman Regular" panose="02020603050405020304" charset="0"/>
              </a:rPr>
              <a:t>: $36.25 | Variance: –$5.25 (–12.7%)</a:t>
            </a:r>
            <a:endParaRPr sz="2400">
              <a:latin typeface="Times New Roman Regular" panose="02020603050405020304" charset="0"/>
              <a:cs typeface="Times New Roman Regular" panose="02020603050405020304" charset="0"/>
            </a:endParaRPr>
          </a:p>
          <a:p>
            <a:pPr marL="0" indent="0">
              <a:buFont typeface="Wingdings" panose="05000000000000000000" charset="0"/>
              <a:buNone/>
            </a:pPr>
            <a:endParaRPr sz="2400">
              <a:latin typeface="Times New Roman Regular" panose="02020603050405020304" charset="0"/>
              <a:cs typeface="Times New Roman Regular" panose="02020603050405020304" charset="0"/>
            </a:endParaRPr>
          </a:p>
          <a:p>
            <a:pPr>
              <a:buFont typeface="Wingdings" panose="05000000000000000000" charset="0"/>
              <a:buChar char=""/>
            </a:pPr>
            <a:r>
              <a:rPr sz="2400">
                <a:latin typeface="Times New Roman Regular" panose="02020603050405020304" charset="0"/>
                <a:cs typeface="Times New Roman Regular" panose="02020603050405020304" charset="0"/>
              </a:rPr>
              <a:t>Vacant space rose by +602,559 SF in the same period</a:t>
            </a:r>
            <a:endParaRPr sz="2400">
              <a:latin typeface="Times New Roman Regular" panose="02020603050405020304" charset="0"/>
              <a:cs typeface="Times New Roman Regular" panose="02020603050405020304" charset="0"/>
            </a:endParaRPr>
          </a:p>
          <a:p>
            <a:pPr marL="0" indent="0">
              <a:buFont typeface="Wingdings" panose="05000000000000000000" charset="0"/>
              <a:buNone/>
            </a:pPr>
            <a:endParaRPr sz="2400">
              <a:latin typeface="Times New Roman Regular" panose="02020603050405020304" charset="0"/>
              <a:cs typeface="Times New Roman Regular" panose="02020603050405020304" charset="0"/>
            </a:endParaRPr>
          </a:p>
          <a:p>
            <a:pPr>
              <a:buFont typeface="Wingdings" panose="05000000000000000000" charset="0"/>
              <a:buChar char=""/>
            </a:pPr>
            <a:r>
              <a:rPr sz="2400">
                <a:latin typeface="Times New Roman Regular" panose="02020603050405020304" charset="0"/>
                <a:cs typeface="Times New Roman Regular" panose="02020603050405020304" charset="0"/>
              </a:rPr>
              <a:t> </a:t>
            </a:r>
            <a:r>
              <a:rPr lang="en-US" sz="2400">
                <a:latin typeface="Times New Roman Regular" panose="02020603050405020304" charset="0"/>
                <a:cs typeface="Times New Roman Regular" panose="02020603050405020304" charset="0"/>
              </a:rPr>
              <a:t>Factors</a:t>
            </a:r>
            <a:r>
              <a:rPr sz="2400">
                <a:latin typeface="Times New Roman Regular" panose="02020603050405020304" charset="0"/>
                <a:cs typeface="Times New Roman Regular" panose="02020603050405020304" charset="0"/>
              </a:rPr>
              <a:t>: Tenant move-outs, sublease supply, landlord concessions</a:t>
            </a:r>
            <a:endParaRPr sz="2400">
              <a:latin typeface="Times New Roman Regular" panose="02020603050405020304" charset="0"/>
              <a:cs typeface="Times New Roman Regular" panose="02020603050405020304" charset="0"/>
            </a:endParaRPr>
          </a:p>
          <a:p>
            <a:pPr marL="0" indent="0">
              <a:buFont typeface="Wingdings" panose="05000000000000000000" charset="0"/>
              <a:buNone/>
            </a:pPr>
            <a:endParaRPr sz="2400">
              <a:latin typeface="Times New Roman Regular" panose="02020603050405020304" charset="0"/>
              <a:cs typeface="Times New Roman Regular" panose="02020603050405020304" charset="0"/>
            </a:endParaRPr>
          </a:p>
          <a:p>
            <a:pPr>
              <a:buFont typeface="Wingdings" panose="05000000000000000000" charset="0"/>
              <a:buChar char=""/>
            </a:pPr>
            <a:r>
              <a:rPr sz="2400">
                <a:latin typeface="Times New Roman Regular" panose="02020603050405020304" charset="0"/>
                <a:cs typeface="Times New Roman Regular" panose="02020603050405020304" charset="0"/>
              </a:rPr>
              <a:t>Inference: Decrease demand in historically </a:t>
            </a:r>
            <a:r>
              <a:rPr lang="en-US" sz="2400">
                <a:latin typeface="Times New Roman Regular" panose="02020603050405020304" charset="0"/>
                <a:cs typeface="Times New Roman Regular" panose="02020603050405020304" charset="0"/>
              </a:rPr>
              <a:t>over flowing </a:t>
            </a:r>
            <a:r>
              <a:rPr sz="2400">
                <a:latin typeface="Times New Roman Regular" panose="02020603050405020304" charset="0"/>
                <a:cs typeface="Times New Roman Regular" panose="02020603050405020304" charset="0"/>
              </a:rPr>
              <a:t>rent </a:t>
            </a:r>
            <a:r>
              <a:rPr lang="en-US" sz="2400">
                <a:latin typeface="Times New Roman Regular" panose="02020603050405020304" charset="0"/>
                <a:cs typeface="Times New Roman Regular" panose="02020603050405020304" charset="0"/>
              </a:rPr>
              <a:t>in </a:t>
            </a:r>
            <a:r>
              <a:rPr sz="2400">
                <a:latin typeface="Times New Roman Regular" panose="02020603050405020304" charset="0"/>
                <a:cs typeface="Times New Roman Regular" panose="02020603050405020304" charset="0"/>
              </a:rPr>
              <a:t>submarket</a:t>
            </a:r>
            <a:endParaRPr sz="2400">
              <a:latin typeface="Times New Roman Regular" panose="02020603050405020304" charset="0"/>
              <a:cs typeface="Times New Roman Regular" panose="02020603050405020304"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gradFill>
          <a:gsLst>
            <a:gs pos="0">
              <a:schemeClr val="accent5">
                <a:lumMod val="50000"/>
              </a:schemeClr>
            </a:gs>
            <a:gs pos="100000">
              <a:schemeClr val="bg1"/>
            </a:gs>
          </a:gsLst>
          <a:lin ang="5400000" scaled="0"/>
        </a:gradFill>
        <a:effectLst/>
      </p:bgPr>
    </p:bg>
    <p:spTree>
      <p:nvGrpSpPr>
        <p:cNvPr id="1" name=""/>
        <p:cNvGrpSpPr/>
        <p:nvPr/>
      </p:nvGrpSpPr>
      <p:grpSpPr/>
      <p:sp>
        <p:nvSpPr>
          <p:cNvPr id="2" name="Title 1"/>
          <p:cNvSpPr>
            <a:spLocks noGrp="1"/>
          </p:cNvSpPr>
          <p:nvPr>
            <p:ph type="title"/>
          </p:nvPr>
        </p:nvSpPr>
        <p:spPr/>
        <p:txBody>
          <a:bodyPr/>
          <a:lstStyle/>
          <a:p>
            <a:r>
              <a:rPr sz="3600">
                <a:latin typeface="Times New Roman Regular" panose="02020603050405020304" charset="0"/>
                <a:cs typeface="Times New Roman Regular" panose="02020603050405020304" charset="0"/>
              </a:rPr>
              <a:t>Standout Positive Trend – Tri-Cities</a:t>
            </a:r>
            <a:endParaRPr sz="3600">
              <a:latin typeface="Times New Roman Regular" panose="02020603050405020304" charset="0"/>
              <a:cs typeface="Times New Roman Regular" panose="02020603050405020304" charset="0"/>
            </a:endParaRPr>
          </a:p>
        </p:txBody>
      </p:sp>
      <p:sp>
        <p:nvSpPr>
          <p:cNvPr id="3" name="Content Placeholder 2"/>
          <p:cNvSpPr>
            <a:spLocks noGrp="1"/>
          </p:cNvSpPr>
          <p:nvPr>
            <p:ph idx="1"/>
          </p:nvPr>
        </p:nvSpPr>
        <p:spPr>
          <a:xfrm>
            <a:off x="457200" y="1600200"/>
            <a:ext cx="8523605" cy="5080000"/>
          </a:xfrm>
        </p:spPr>
        <p:txBody>
          <a:bodyPr/>
          <a:lstStyle/>
          <a:p>
            <a:pPr>
              <a:buFont typeface="Wingdings" panose="05000000000000000000" charset="0"/>
              <a:buChar char=""/>
            </a:pPr>
            <a:r>
              <a:rPr sz="2800">
                <a:latin typeface="Times New Roman Regular" panose="02020603050405020304" charset="0"/>
                <a:cs typeface="Times New Roman Regular" panose="02020603050405020304" charset="0"/>
              </a:rPr>
              <a:t>Metric: Net Absorption (SF)</a:t>
            </a:r>
            <a:endParaRPr sz="2800">
              <a:latin typeface="Times New Roman Regular" panose="02020603050405020304" charset="0"/>
              <a:cs typeface="Times New Roman Regular" panose="02020603050405020304" charset="0"/>
            </a:endParaRPr>
          </a:p>
          <a:p>
            <a:pPr marL="0" indent="0">
              <a:buFont typeface="Wingdings" panose="05000000000000000000" charset="0"/>
              <a:buNone/>
            </a:pPr>
            <a:endParaRPr sz="2800">
              <a:latin typeface="Times New Roman Regular" panose="02020603050405020304" charset="0"/>
              <a:cs typeface="Times New Roman Regular" panose="02020603050405020304" charset="0"/>
            </a:endParaRPr>
          </a:p>
          <a:p>
            <a:pPr>
              <a:buFont typeface="Wingdings" panose="05000000000000000000" charset="0"/>
              <a:buChar char=""/>
            </a:pPr>
            <a:r>
              <a:rPr lang="en-US" sz="2800">
                <a:latin typeface="Times New Roman Regular" panose="02020603050405020304" charset="0"/>
                <a:cs typeface="Times New Roman Regular" panose="02020603050405020304" charset="0"/>
              </a:rPr>
              <a:t>3</a:t>
            </a:r>
            <a:r>
              <a:rPr sz="2800">
                <a:latin typeface="Times New Roman Regular" panose="02020603050405020304" charset="0"/>
                <a:cs typeface="Times New Roman Regular" panose="02020603050405020304" charset="0"/>
              </a:rPr>
              <a:t>Q</a:t>
            </a:r>
            <a:r>
              <a:rPr lang="en-US" sz="2800">
                <a:latin typeface="Times New Roman Regular" panose="02020603050405020304" charset="0"/>
                <a:cs typeface="Times New Roman Regular" panose="02020603050405020304" charset="0"/>
              </a:rPr>
              <a:t>2</a:t>
            </a:r>
            <a:r>
              <a:rPr sz="2800">
                <a:latin typeface="Times New Roman Regular" panose="02020603050405020304" charset="0"/>
                <a:cs typeface="Times New Roman Regular" panose="02020603050405020304" charset="0"/>
              </a:rPr>
              <a:t>3: 489,301 | </a:t>
            </a:r>
            <a:r>
              <a:rPr lang="en-US" sz="2800">
                <a:latin typeface="Times New Roman Regular" panose="02020603050405020304" charset="0"/>
                <a:cs typeface="Times New Roman Regular" panose="02020603050405020304" charset="0"/>
              </a:rPr>
              <a:t>4</a:t>
            </a:r>
            <a:r>
              <a:rPr sz="2800">
                <a:latin typeface="Times New Roman Regular" panose="02020603050405020304" charset="0"/>
                <a:cs typeface="Times New Roman Regular" panose="02020603050405020304" charset="0"/>
              </a:rPr>
              <a:t>Q</a:t>
            </a:r>
            <a:r>
              <a:rPr lang="en-US" sz="2800">
                <a:latin typeface="Times New Roman Regular" panose="02020603050405020304" charset="0"/>
                <a:cs typeface="Times New Roman Regular" panose="02020603050405020304" charset="0"/>
              </a:rPr>
              <a:t>23</a:t>
            </a:r>
            <a:r>
              <a:rPr sz="2800">
                <a:latin typeface="Times New Roman Regular" panose="02020603050405020304" charset="0"/>
                <a:cs typeface="Times New Roman Regular" panose="02020603050405020304" charset="0"/>
              </a:rPr>
              <a:t>: 268,209 | Still positive</a:t>
            </a:r>
            <a:endParaRPr sz="2800">
              <a:latin typeface="Times New Roman Regular" panose="02020603050405020304" charset="0"/>
              <a:cs typeface="Times New Roman Regular" panose="02020603050405020304" charset="0"/>
            </a:endParaRPr>
          </a:p>
          <a:p>
            <a:pPr marL="0" indent="0">
              <a:buFont typeface="Wingdings" panose="05000000000000000000" charset="0"/>
              <a:buNone/>
            </a:pPr>
            <a:endParaRPr sz="2800">
              <a:latin typeface="Times New Roman Regular" panose="02020603050405020304" charset="0"/>
              <a:cs typeface="Times New Roman Regular" panose="02020603050405020304" charset="0"/>
            </a:endParaRPr>
          </a:p>
          <a:p>
            <a:pPr>
              <a:buFont typeface="Wingdings" panose="05000000000000000000" charset="0"/>
              <a:buChar char=""/>
            </a:pPr>
            <a:r>
              <a:rPr sz="2800">
                <a:latin typeface="Times New Roman Regular" panose="02020603050405020304" charset="0"/>
                <a:cs typeface="Times New Roman Regular" panose="02020603050405020304" charset="0"/>
              </a:rPr>
              <a:t> Vacancy rose slightly: 21.9% → 22.7%</a:t>
            </a:r>
            <a:endParaRPr sz="2800">
              <a:latin typeface="Times New Roman Regular" panose="02020603050405020304" charset="0"/>
              <a:cs typeface="Times New Roman Regular" panose="02020603050405020304" charset="0"/>
            </a:endParaRPr>
          </a:p>
          <a:p>
            <a:pPr marL="0" indent="0">
              <a:buFont typeface="Wingdings" panose="05000000000000000000" charset="0"/>
              <a:buNone/>
            </a:pPr>
            <a:endParaRPr sz="2800">
              <a:latin typeface="Times New Roman Regular" panose="02020603050405020304" charset="0"/>
              <a:cs typeface="Times New Roman Regular" panose="02020603050405020304" charset="0"/>
            </a:endParaRPr>
          </a:p>
          <a:p>
            <a:pPr>
              <a:buFont typeface="Wingdings" panose="05000000000000000000" charset="0"/>
              <a:buChar char=""/>
            </a:pPr>
            <a:r>
              <a:rPr lang="en-US" sz="2800">
                <a:latin typeface="Times New Roman Regular" panose="02020603050405020304" charset="0"/>
                <a:cs typeface="Times New Roman Regular" panose="02020603050405020304" charset="0"/>
              </a:rPr>
              <a:t>Factors</a:t>
            </a:r>
            <a:r>
              <a:rPr sz="2800">
                <a:latin typeface="Times New Roman Regular" panose="02020603050405020304" charset="0"/>
                <a:cs typeface="Times New Roman Regular" panose="02020603050405020304" charset="0"/>
              </a:rPr>
              <a:t>: More affordable rents, diversified tenant mix</a:t>
            </a:r>
            <a:endParaRPr sz="2800">
              <a:latin typeface="Times New Roman Regular" panose="02020603050405020304" charset="0"/>
              <a:cs typeface="Times New Roman Regular" panose="02020603050405020304" charset="0"/>
            </a:endParaRPr>
          </a:p>
          <a:p>
            <a:pPr marL="0" indent="0">
              <a:buFont typeface="Wingdings" panose="05000000000000000000" charset="0"/>
              <a:buNone/>
            </a:pPr>
            <a:endParaRPr sz="2800">
              <a:latin typeface="Times New Roman Regular" panose="02020603050405020304" charset="0"/>
              <a:cs typeface="Times New Roman Regular" panose="02020603050405020304" charset="0"/>
            </a:endParaRPr>
          </a:p>
          <a:p>
            <a:pPr>
              <a:buFont typeface="Wingdings" panose="05000000000000000000" charset="0"/>
              <a:buChar char=""/>
            </a:pPr>
            <a:r>
              <a:rPr sz="2800">
                <a:latin typeface="Times New Roman Regular" panose="02020603050405020304" charset="0"/>
                <a:cs typeface="Times New Roman Regular" panose="02020603050405020304" charset="0"/>
              </a:rPr>
              <a:t> Implication: Resilient demand compared to other submarkets</a:t>
            </a:r>
            <a:endParaRPr sz="2800">
              <a:latin typeface="Times New Roman Regular" panose="02020603050405020304" charset="0"/>
              <a:cs typeface="Times New Roman Regular" panose="02020603050405020304"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gradFill>
          <a:gsLst>
            <a:gs pos="0">
              <a:schemeClr val="accent5">
                <a:lumMod val="50000"/>
              </a:schemeClr>
            </a:gs>
            <a:gs pos="100000">
              <a:schemeClr val="bg1"/>
            </a:gs>
          </a:gsLst>
          <a:lin ang="5400000" scaled="0"/>
        </a:gradFill>
        <a:effectLst/>
      </p:bgPr>
    </p:bg>
    <p:spTree>
      <p:nvGrpSpPr>
        <p:cNvPr id="1" name=""/>
        <p:cNvGrpSpPr/>
        <p:nvPr/>
      </p:nvGrpSpPr>
      <p:grpSpPr/>
      <p:sp>
        <p:nvSpPr>
          <p:cNvPr id="2" name="Title 1"/>
          <p:cNvSpPr>
            <a:spLocks noGrp="1"/>
          </p:cNvSpPr>
          <p:nvPr>
            <p:ph type="title"/>
          </p:nvPr>
        </p:nvSpPr>
        <p:spPr/>
        <p:txBody>
          <a:bodyPr/>
          <a:lstStyle/>
          <a:p>
            <a:r>
              <a:rPr sz="3600">
                <a:latin typeface="Times New Roman Regular" panose="02020603050405020304" charset="0"/>
                <a:cs typeface="Times New Roman Regular" panose="02020603050405020304" charset="0"/>
              </a:rPr>
              <a:t>West LA Asking Rent Trend</a:t>
            </a:r>
            <a:endParaRPr sz="3600">
              <a:latin typeface="Times New Roman Regular" panose="02020603050405020304" charset="0"/>
              <a:cs typeface="Times New Roman Regular" panose="02020603050405020304" charset="0"/>
            </a:endParaRPr>
          </a:p>
        </p:txBody>
      </p:sp>
      <p:pic>
        <p:nvPicPr>
          <p:cNvPr id="3" name="Picture 2" descr="westla_rent.png"/>
          <p:cNvPicPr>
            <a:picLocks noChangeAspect="1"/>
          </p:cNvPicPr>
          <p:nvPr/>
        </p:nvPicPr>
        <p:blipFill>
          <a:blip r:embed="rId1"/>
          <a:stretch>
            <a:fillRect/>
          </a:stretch>
        </p:blipFill>
        <p:spPr>
          <a:xfrm>
            <a:off x="914400" y="1828800"/>
            <a:ext cx="7174865" cy="4036695"/>
          </a:xfrm>
          <a:prstGeom prst="rect">
            <a:avLst/>
          </a:prstGeom>
          <a:blipFill>
            <a:blip r:embed="rId2"/>
            <a:tile tx="0" ty="0" sx="100000" sy="100000" flip="none" algn="tl"/>
          </a:blipFill>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gradFill>
          <a:gsLst>
            <a:gs pos="0">
              <a:schemeClr val="accent5">
                <a:lumMod val="50000"/>
              </a:schemeClr>
            </a:gs>
            <a:gs pos="100000">
              <a:schemeClr val="bg1"/>
            </a:gs>
          </a:gsLst>
          <a:lin ang="5400000" scaled="0"/>
        </a:gradFill>
        <a:effectLst/>
      </p:bgPr>
    </p:bg>
    <p:spTree>
      <p:nvGrpSpPr>
        <p:cNvPr id="1" name=""/>
        <p:cNvGrpSpPr/>
        <p:nvPr/>
      </p:nvGrpSpPr>
      <p:grpSpPr/>
      <p:sp>
        <p:nvSpPr>
          <p:cNvPr id="2" name="Title 1"/>
          <p:cNvSpPr>
            <a:spLocks noGrp="1"/>
          </p:cNvSpPr>
          <p:nvPr>
            <p:ph type="title"/>
          </p:nvPr>
        </p:nvSpPr>
        <p:spPr/>
        <p:txBody>
          <a:bodyPr/>
          <a:lstStyle/>
          <a:p>
            <a:r>
              <a:rPr sz="3600">
                <a:latin typeface="Times New Roman Regular" panose="02020603050405020304" charset="0"/>
                <a:cs typeface="Times New Roman Regular" panose="02020603050405020304" charset="0"/>
              </a:rPr>
              <a:t>Net Absorption – West LA vs Tri-Cities</a:t>
            </a:r>
            <a:endParaRPr sz="3600">
              <a:latin typeface="Times New Roman Regular" panose="02020603050405020304" charset="0"/>
              <a:cs typeface="Times New Roman Regular" panose="02020603050405020304" charset="0"/>
            </a:endParaRPr>
          </a:p>
        </p:txBody>
      </p:sp>
      <p:pic>
        <p:nvPicPr>
          <p:cNvPr id="3" name="Picture 2" descr="net_absorption.png"/>
          <p:cNvPicPr>
            <a:picLocks noChangeAspect="1"/>
          </p:cNvPicPr>
          <p:nvPr/>
        </p:nvPicPr>
        <p:blipFill>
          <a:blip r:embed="rId1"/>
          <a:stretch>
            <a:fillRect/>
          </a:stretch>
        </p:blipFill>
        <p:spPr>
          <a:xfrm>
            <a:off x="644525" y="1837690"/>
            <a:ext cx="7888605" cy="4147185"/>
          </a:xfrm>
          <a:prstGeom prst="rect">
            <a:avLst/>
          </a:prstGeom>
          <a:solidFill>
            <a:schemeClr val="accent1">
              <a:lumMod val="20000"/>
              <a:lumOff val="80000"/>
            </a:schemeClr>
          </a:solidFill>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gradFill>
          <a:gsLst>
            <a:gs pos="0">
              <a:schemeClr val="accent5">
                <a:lumMod val="50000"/>
              </a:schemeClr>
            </a:gs>
            <a:gs pos="100000">
              <a:schemeClr val="bg1"/>
            </a:gs>
          </a:gsLst>
          <a:lin ang="5400000" scaled="0"/>
        </a:gradFill>
        <a:effectLst/>
      </p:bgPr>
    </p:bg>
    <p:spTree>
      <p:nvGrpSpPr>
        <p:cNvPr id="1" name=""/>
        <p:cNvGrpSpPr/>
        <p:nvPr/>
      </p:nvGrpSpPr>
      <p:grpSpPr/>
      <p:sp>
        <p:nvSpPr>
          <p:cNvPr id="2" name="Title 1"/>
          <p:cNvSpPr>
            <a:spLocks noGrp="1"/>
          </p:cNvSpPr>
          <p:nvPr>
            <p:ph type="title"/>
          </p:nvPr>
        </p:nvSpPr>
        <p:spPr/>
        <p:txBody>
          <a:bodyPr/>
          <a:lstStyle/>
          <a:p>
            <a:r>
              <a:rPr sz="3600">
                <a:latin typeface="Times New Roman Regular" panose="02020603050405020304" charset="0"/>
                <a:cs typeface="Times New Roman Regular" panose="02020603050405020304" charset="0"/>
              </a:rPr>
              <a:t>Overall Vacancy % (Class A) – Q3 vs Q4</a:t>
            </a:r>
            <a:endParaRPr sz="3600">
              <a:latin typeface="Times New Roman Regular" panose="02020603050405020304" charset="0"/>
              <a:cs typeface="Times New Roman Regular" panose="02020603050405020304" charset="0"/>
            </a:endParaRPr>
          </a:p>
        </p:txBody>
      </p:sp>
      <p:pic>
        <p:nvPicPr>
          <p:cNvPr id="3" name="Picture 2" descr="vacancy_chart.png"/>
          <p:cNvPicPr>
            <a:picLocks noChangeAspect="1"/>
          </p:cNvPicPr>
          <p:nvPr/>
        </p:nvPicPr>
        <p:blipFill>
          <a:blip r:embed="rId1"/>
          <a:stretch>
            <a:fillRect/>
          </a:stretch>
        </p:blipFill>
        <p:spPr>
          <a:xfrm>
            <a:off x="620395" y="1828800"/>
            <a:ext cx="7837170" cy="4034155"/>
          </a:xfrm>
          <a:prstGeom prst="rect">
            <a:avLst/>
          </a:prstGeom>
          <a:ln>
            <a:solidFill>
              <a:schemeClr val="tx1"/>
            </a:solid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gradFill>
          <a:gsLst>
            <a:gs pos="0">
              <a:schemeClr val="accent5">
                <a:lumMod val="50000"/>
              </a:schemeClr>
            </a:gs>
            <a:gs pos="100000">
              <a:schemeClr val="bg1"/>
            </a:gs>
          </a:gsLst>
          <a:lin ang="5400000" scaled="0"/>
        </a:gradFill>
        <a:effectLst/>
      </p:bgPr>
    </p:bg>
    <p:spTree>
      <p:nvGrpSpPr>
        <p:cNvPr id="1" name=""/>
        <p:cNvGrpSpPr/>
        <p:nvPr/>
      </p:nvGrpSpPr>
      <p:grpSpPr/>
      <p:sp>
        <p:nvSpPr>
          <p:cNvPr id="2" name="Title 1"/>
          <p:cNvSpPr>
            <a:spLocks noGrp="1"/>
          </p:cNvSpPr>
          <p:nvPr>
            <p:ph type="title"/>
          </p:nvPr>
        </p:nvSpPr>
        <p:spPr/>
        <p:txBody>
          <a:bodyPr/>
          <a:lstStyle/>
          <a:p>
            <a:r>
              <a:rPr sz="3600">
                <a:latin typeface="Times New Roman Regular" panose="02020603050405020304" charset="0"/>
                <a:cs typeface="Times New Roman Regular" panose="02020603050405020304" charset="0"/>
              </a:rPr>
              <a:t>Asking Rent (NNN $/SF Class A) – Q3 vs Q4</a:t>
            </a:r>
            <a:endParaRPr sz="3600">
              <a:latin typeface="Times New Roman Regular" panose="02020603050405020304" charset="0"/>
              <a:cs typeface="Times New Roman Regular" panose="02020603050405020304" charset="0"/>
            </a:endParaRPr>
          </a:p>
        </p:txBody>
      </p:sp>
      <p:pic>
        <p:nvPicPr>
          <p:cNvPr id="3" name="Picture 2" descr="rent_chart.png"/>
          <p:cNvPicPr>
            <a:picLocks noChangeAspect="1"/>
          </p:cNvPicPr>
          <p:nvPr/>
        </p:nvPicPr>
        <p:blipFill>
          <a:blip r:embed="rId1"/>
          <a:stretch>
            <a:fillRect/>
          </a:stretch>
        </p:blipFill>
        <p:spPr>
          <a:xfrm>
            <a:off x="914400" y="1828800"/>
            <a:ext cx="7602220" cy="4116705"/>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gradFill>
          <a:gsLst>
            <a:gs pos="0">
              <a:schemeClr val="accent5">
                <a:lumMod val="50000"/>
              </a:schemeClr>
            </a:gs>
            <a:gs pos="100000">
              <a:schemeClr val="bg1"/>
            </a:gs>
          </a:gsLst>
          <a:lin ang="5400000" scaled="0"/>
        </a:gradFill>
        <a:effectLst/>
      </p:bgPr>
    </p:bg>
    <p:spTree>
      <p:nvGrpSpPr>
        <p:cNvPr id="1" name=""/>
        <p:cNvGrpSpPr/>
        <p:nvPr/>
      </p:nvGrpSpPr>
      <p:grpSpPr/>
      <p:sp>
        <p:nvSpPr>
          <p:cNvPr id="2" name="Title 1"/>
          <p:cNvSpPr>
            <a:spLocks noGrp="1"/>
          </p:cNvSpPr>
          <p:nvPr>
            <p:ph type="title"/>
          </p:nvPr>
        </p:nvSpPr>
        <p:spPr/>
        <p:txBody>
          <a:bodyPr/>
          <a:lstStyle/>
          <a:p>
            <a:r>
              <a:rPr sz="3600">
                <a:latin typeface="Times New Roman Regular" panose="02020603050405020304" charset="0"/>
                <a:cs typeface="Times New Roman Regular" panose="02020603050405020304" charset="0"/>
              </a:rPr>
              <a:t>Net Absorption (SF) – Q3 vs Q4</a:t>
            </a:r>
            <a:endParaRPr sz="3600">
              <a:latin typeface="Times New Roman Regular" panose="02020603050405020304" charset="0"/>
              <a:cs typeface="Times New Roman Regular" panose="02020603050405020304" charset="0"/>
            </a:endParaRPr>
          </a:p>
        </p:txBody>
      </p:sp>
      <p:pic>
        <p:nvPicPr>
          <p:cNvPr id="3" name="Picture 2" descr="absorption_chart.png"/>
          <p:cNvPicPr>
            <a:picLocks noChangeAspect="1"/>
          </p:cNvPicPr>
          <p:nvPr/>
        </p:nvPicPr>
        <p:blipFill>
          <a:blip r:embed="rId1"/>
          <a:stretch>
            <a:fillRect/>
          </a:stretch>
        </p:blipFill>
        <p:spPr>
          <a:xfrm>
            <a:off x="457835" y="1828800"/>
            <a:ext cx="8234045" cy="474218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gradFill>
          <a:gsLst>
            <a:gs pos="0">
              <a:schemeClr val="accent5">
                <a:lumMod val="50000"/>
              </a:schemeClr>
            </a:gs>
            <a:gs pos="100000">
              <a:schemeClr val="bg1"/>
            </a:gs>
          </a:gsLst>
          <a:lin ang="5400000" scaled="0"/>
        </a:gradFill>
        <a:effectLst/>
      </p:bgPr>
    </p:bg>
    <p:spTree>
      <p:nvGrpSpPr>
        <p:cNvPr id="1" name=""/>
        <p:cNvGrpSpPr/>
        <p:nvPr/>
      </p:nvGrpSpPr>
      <p:grpSpPr/>
      <p:sp>
        <p:nvSpPr>
          <p:cNvPr id="2" name="Title 1"/>
          <p:cNvSpPr>
            <a:spLocks noGrp="1"/>
          </p:cNvSpPr>
          <p:nvPr>
            <p:ph type="title"/>
          </p:nvPr>
        </p:nvSpPr>
        <p:spPr>
          <a:xfrm>
            <a:off x="457200" y="168910"/>
            <a:ext cx="8229600" cy="1249045"/>
          </a:xfrm>
        </p:spPr>
        <p:txBody>
          <a:bodyPr/>
          <a:lstStyle/>
          <a:p>
            <a:r>
              <a:rPr sz="3600">
                <a:latin typeface="Times New Roman Regular" panose="02020603050405020304" charset="0"/>
                <a:cs typeface="Times New Roman Regular" panose="02020603050405020304" charset="0"/>
              </a:rPr>
              <a:t>S</a:t>
            </a:r>
            <a:r>
              <a:rPr lang="en-US" sz="3600">
                <a:latin typeface="Times New Roman Regular" panose="02020603050405020304" charset="0"/>
                <a:cs typeface="Times New Roman Regular" panose="02020603050405020304" charset="0"/>
              </a:rPr>
              <a:t>UMMARY</a:t>
            </a:r>
            <a:r>
              <a:rPr sz="3600">
                <a:latin typeface="Times New Roman Regular" panose="02020603050405020304" charset="0"/>
                <a:cs typeface="Times New Roman Regular" panose="02020603050405020304" charset="0"/>
              </a:rPr>
              <a:t> – LA Office Market Trends</a:t>
            </a:r>
            <a:endParaRPr sz="3600">
              <a:latin typeface="Times New Roman Regular" panose="02020603050405020304" charset="0"/>
              <a:cs typeface="Times New Roman Regular" panose="02020603050405020304" charset="0"/>
            </a:endParaRPr>
          </a:p>
        </p:txBody>
      </p:sp>
      <p:sp>
        <p:nvSpPr>
          <p:cNvPr id="3" name="Content Placeholder 2"/>
          <p:cNvSpPr>
            <a:spLocks noGrp="1"/>
          </p:cNvSpPr>
          <p:nvPr>
            <p:ph idx="1"/>
          </p:nvPr>
        </p:nvSpPr>
        <p:spPr>
          <a:xfrm>
            <a:off x="457200" y="1294130"/>
            <a:ext cx="8229600" cy="5432425"/>
          </a:xfrm>
        </p:spPr>
        <p:txBody>
          <a:bodyPr/>
          <a:lstStyle/>
          <a:p>
            <a:pPr algn="just">
              <a:buFont typeface="Wingdings" panose="05000000000000000000" charset="0"/>
              <a:buChar char=""/>
            </a:pPr>
            <a:r>
              <a:rPr sz="2800">
                <a:latin typeface="Times New Roman Regular" panose="02020603050405020304" charset="0"/>
                <a:cs typeface="Times New Roman Regular" panose="02020603050405020304" charset="0"/>
              </a:rPr>
              <a:t>West LA: Largest negative shift</a:t>
            </a:r>
            <a:r>
              <a:rPr lang="en-US" sz="2800">
                <a:latin typeface="Times New Roman Regular" panose="02020603050405020304" charset="0"/>
                <a:cs typeface="Times New Roman Regular" panose="02020603050405020304" charset="0"/>
              </a:rPr>
              <a:t>/displacement</a:t>
            </a:r>
            <a:r>
              <a:rPr sz="2800">
                <a:latin typeface="Times New Roman Regular" panose="02020603050405020304" charset="0"/>
                <a:cs typeface="Times New Roman Regular" panose="02020603050405020304" charset="0"/>
              </a:rPr>
              <a:t>, rents declined sharply and vacancy rose</a:t>
            </a:r>
            <a:endParaRPr sz="2800">
              <a:latin typeface="Times New Roman Regular" panose="02020603050405020304" charset="0"/>
              <a:cs typeface="Times New Roman Regular" panose="02020603050405020304" charset="0"/>
            </a:endParaRPr>
          </a:p>
          <a:p>
            <a:pPr algn="just">
              <a:buFont typeface="Wingdings" panose="05000000000000000000" charset="0"/>
              <a:buChar char=""/>
            </a:pPr>
            <a:endParaRPr sz="2800">
              <a:latin typeface="Times New Roman Regular" panose="02020603050405020304" charset="0"/>
              <a:cs typeface="Times New Roman Regular" panose="02020603050405020304" charset="0"/>
            </a:endParaRPr>
          </a:p>
          <a:p>
            <a:pPr algn="just">
              <a:buFont typeface="Wingdings" panose="05000000000000000000" charset="0"/>
              <a:buChar char=""/>
            </a:pPr>
            <a:r>
              <a:rPr sz="2800">
                <a:latin typeface="Times New Roman Regular" panose="02020603050405020304" charset="0"/>
                <a:cs typeface="Times New Roman Regular" panose="02020603050405020304" charset="0"/>
              </a:rPr>
              <a:t>Tri-Cities: Demonstrated relative strength with current absorption</a:t>
            </a:r>
            <a:r>
              <a:rPr lang="en-US" sz="2800">
                <a:latin typeface="Times New Roman Regular" panose="02020603050405020304" charset="0"/>
                <a:cs typeface="Times New Roman Regular" panose="02020603050405020304" charset="0"/>
              </a:rPr>
              <a:t> and social process</a:t>
            </a:r>
            <a:endParaRPr sz="2800">
              <a:latin typeface="Times New Roman Regular" panose="02020603050405020304" charset="0"/>
              <a:cs typeface="Times New Roman Regular" panose="02020603050405020304" charset="0"/>
            </a:endParaRPr>
          </a:p>
          <a:p>
            <a:pPr marL="0" indent="0" algn="just">
              <a:buFont typeface="Wingdings" panose="05000000000000000000" charset="0"/>
              <a:buNone/>
            </a:pPr>
            <a:endParaRPr sz="2800">
              <a:latin typeface="Times New Roman Regular" panose="02020603050405020304" charset="0"/>
              <a:cs typeface="Times New Roman Regular" panose="02020603050405020304" charset="0"/>
            </a:endParaRPr>
          </a:p>
          <a:p>
            <a:pPr algn="just">
              <a:buFont typeface="Wingdings" panose="05000000000000000000" charset="0"/>
              <a:buChar char=""/>
            </a:pPr>
            <a:r>
              <a:rPr sz="2800">
                <a:latin typeface="Times New Roman Regular" panose="02020603050405020304" charset="0"/>
                <a:cs typeface="Times New Roman Regular" panose="02020603050405020304" charset="0"/>
              </a:rPr>
              <a:t>Market Prospect</a:t>
            </a:r>
            <a:r>
              <a:rPr lang="en-US" sz="2800">
                <a:latin typeface="Times New Roman Regular" panose="02020603050405020304" charset="0"/>
                <a:cs typeface="Times New Roman Regular" panose="02020603050405020304" charset="0"/>
              </a:rPr>
              <a:t>ive</a:t>
            </a:r>
            <a:r>
              <a:rPr sz="2800">
                <a:latin typeface="Times New Roman Regular" panose="02020603050405020304" charset="0"/>
                <a:cs typeface="Times New Roman Regular" panose="02020603050405020304" charset="0"/>
              </a:rPr>
              <a:t>: Submarkets diverging – some show resilience while others weaken</a:t>
            </a:r>
            <a:endParaRPr sz="2800">
              <a:latin typeface="Times New Roman Regular" panose="02020603050405020304" charset="0"/>
              <a:cs typeface="Times New Roman Regular" panose="02020603050405020304" charset="0"/>
            </a:endParaRPr>
          </a:p>
          <a:p>
            <a:pPr marL="0" indent="0" algn="just">
              <a:buFont typeface="Wingdings" panose="05000000000000000000" charset="0"/>
              <a:buNone/>
            </a:pPr>
            <a:endParaRPr sz="2800">
              <a:latin typeface="Times New Roman Regular" panose="02020603050405020304" charset="0"/>
              <a:cs typeface="Times New Roman Regular" panose="02020603050405020304" charset="0"/>
            </a:endParaRPr>
          </a:p>
          <a:p>
            <a:pPr algn="just">
              <a:buFont typeface="Wingdings" panose="05000000000000000000" charset="0"/>
              <a:buChar char=""/>
            </a:pPr>
            <a:r>
              <a:rPr sz="2800">
                <a:latin typeface="Times New Roman Regular" panose="02020603050405020304" charset="0"/>
                <a:cs typeface="Times New Roman Regular" panose="02020603050405020304" charset="0"/>
              </a:rPr>
              <a:t>Recommendation: Supervis</a:t>
            </a:r>
            <a:r>
              <a:rPr lang="en-US" sz="2800">
                <a:latin typeface="Times New Roman Regular" panose="02020603050405020304" charset="0"/>
                <a:cs typeface="Times New Roman Regular" panose="02020603050405020304" charset="0"/>
              </a:rPr>
              <a:t>e</a:t>
            </a:r>
            <a:r>
              <a:rPr sz="2800">
                <a:latin typeface="Times New Roman Regular" panose="02020603050405020304" charset="0"/>
                <a:cs typeface="Times New Roman Regular" panose="02020603050405020304" charset="0"/>
              </a:rPr>
              <a:t> rent trends in West LA; highlight stability</a:t>
            </a:r>
            <a:r>
              <a:rPr lang="en-US" sz="2800">
                <a:latin typeface="Times New Roman Regular" panose="02020603050405020304" charset="0"/>
                <a:cs typeface="Times New Roman Regular" panose="02020603050405020304" charset="0"/>
              </a:rPr>
              <a:t> and firmness</a:t>
            </a:r>
            <a:r>
              <a:rPr sz="2800">
                <a:latin typeface="Times New Roman Regular" panose="02020603050405020304" charset="0"/>
                <a:cs typeface="Times New Roman Regular" panose="02020603050405020304" charset="0"/>
              </a:rPr>
              <a:t> in Tri-Cities</a:t>
            </a:r>
            <a:endParaRPr sz="2800">
              <a:latin typeface="Times New Roman Regular" panose="02020603050405020304" charset="0"/>
              <a:cs typeface="Times New Roman Regular" panose="02020603050405020304" charset="0"/>
            </a:endParaRPr>
          </a:p>
        </p:txBody>
      </p:sp>
    </p:spTree>
  </p:cSld>
  <p:clrMapOvr>
    <a:masterClrMapping/>
  </p:clrMapOvr>
</p:sld>
</file>

<file path=ppt/theme/theme1.xml><?xml version="1.0" encoding="utf-8"?>
<a:theme xmlns:a="http://schemas.openxmlformats.org/drawingml/2006/main" name="Default Design">
  <a:themeElements>
    <a:clrScheme name="">
      <a:dk1>
        <a:srgbClr val="000000"/>
      </a:dk1>
      <a:lt1>
        <a:srgbClr val="FFFFFF"/>
      </a:lt1>
      <a:dk2>
        <a:srgbClr val="000000"/>
      </a:dk2>
      <a:lt2>
        <a:srgbClr val="808080"/>
      </a:lt2>
      <a:accent1>
        <a:srgbClr val="7DB6EF"/>
      </a:accent1>
      <a:accent2>
        <a:srgbClr val="C0504D"/>
      </a:accent2>
      <a:accent3>
        <a:srgbClr val="FFFFFF"/>
      </a:accent3>
      <a:accent4>
        <a:srgbClr val="000000"/>
      </a:accent4>
      <a:accent5>
        <a:srgbClr val="C0D7F5"/>
      </a:accent5>
      <a:accent6>
        <a:srgbClr val="AC4744"/>
      </a:accent6>
      <a:hlink>
        <a:srgbClr val="0066CC"/>
      </a:hlink>
      <a:folHlink>
        <a:srgbClr val="800080"/>
      </a:folHlink>
    </a:clrScheme>
    <a:fontScheme name="">
      <a:majorFont>
        <a:latin typeface="Arial"/>
        <a:ea typeface="Arial"/>
        <a:cs typeface=""/>
      </a:majorFont>
      <a:minorFont>
        <a:latin typeface="Arial"/>
        <a:ea typeface="Arial"/>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raClrSchemeLst>
    <a:extraClrScheme>
      <a:clrScheme name="">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4"/>
        </a:accent5>
        <a:accent6>
          <a:srgbClr val="E5895B"/>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7B7E5"/>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
        <a:dk1>
          <a:srgbClr val="000000"/>
        </a:dk1>
        <a:lt1>
          <a:srgbClr val="DEF6F1"/>
        </a:lt1>
        <a:dk2>
          <a:srgbClr val="000000"/>
        </a:dk2>
        <a:lt2>
          <a:srgbClr val="969696"/>
        </a:lt2>
        <a:accent1>
          <a:srgbClr val="FFFFFF"/>
        </a:accent1>
        <a:accent2>
          <a:srgbClr val="8DC6FF"/>
        </a:accent2>
        <a:accent3>
          <a:srgbClr val="EBFAF7"/>
        </a:accent3>
        <a:accent4>
          <a:srgbClr val="000000"/>
        </a:accent4>
        <a:accent5>
          <a:srgbClr val="FFFFFF"/>
        </a:accent5>
        <a:accent6>
          <a:srgbClr val="7EB1E5"/>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7B7"/>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
        <a:dk1>
          <a:srgbClr val="FFFFFF"/>
        </a:dk1>
        <a:lt1>
          <a:srgbClr val="008080"/>
        </a:lt1>
        <a:dk2>
          <a:srgbClr val="FFFF99"/>
        </a:dk2>
        <a:lt2>
          <a:srgbClr val="005A58"/>
        </a:lt2>
        <a:accent1>
          <a:srgbClr val="006462"/>
        </a:accent1>
        <a:accent2>
          <a:srgbClr val="6D6FC7"/>
        </a:accent2>
        <a:accent3>
          <a:srgbClr val="AAC1C1"/>
        </a:accent3>
        <a:accent4>
          <a:srgbClr val="DCDCDC"/>
        </a:accent4>
        <a:accent5>
          <a:srgbClr val="AAB8B8"/>
        </a:accent5>
        <a:accent6>
          <a:srgbClr val="6163B2"/>
        </a:accent6>
        <a:hlink>
          <a:srgbClr val="00FFFF"/>
        </a:hlink>
        <a:folHlink>
          <a:srgbClr val="00FF00"/>
        </a:folHlink>
      </a:clrScheme>
      <a:clrMap bg1="lt1" tx1="dk1" bg2="lt2" tx2="dk2" accent1="accent1" accent2="accent2" accent3="accent3" accent4="accent4" accent5="accent5" accent6="accent6" hlink="hlink" folHlink="folHlink"/>
    </a:extraClrScheme>
    <a:extraClrScheme>
      <a:clrScheme name="">
        <a:dk1>
          <a:srgbClr val="FFFFFF"/>
        </a:dk1>
        <a:lt1>
          <a:srgbClr val="800000"/>
        </a:lt1>
        <a:dk2>
          <a:srgbClr val="DFD293"/>
        </a:dk2>
        <a:lt2>
          <a:srgbClr val="5C1F00"/>
        </a:lt2>
        <a:accent1>
          <a:srgbClr val="CC3300"/>
        </a:accent1>
        <a:accent2>
          <a:srgbClr val="BE7960"/>
        </a:accent2>
        <a:accent3>
          <a:srgbClr val="C1AAAA"/>
        </a:accent3>
        <a:accent4>
          <a:srgbClr val="DCDCDC"/>
        </a:accent4>
        <a:accent5>
          <a:srgbClr val="E2ADAA"/>
        </a:accent5>
        <a:accent6>
          <a:srgbClr val="AA6C55"/>
        </a:accent6>
        <a:hlink>
          <a:srgbClr val="FFFF99"/>
        </a:hlink>
        <a:folHlink>
          <a:srgbClr val="D3A219"/>
        </a:folHlink>
      </a:clrScheme>
      <a:clrMap bg1="lt1" tx1="dk1" bg2="lt2" tx2="dk2" accent1="accent1" accent2="accent2" accent3="accent3" accent4="accent4" accent5="accent5" accent6="accent6" hlink="hlink" folHlink="folHlink"/>
    </a:extraClrScheme>
    <a:extraClrScheme>
      <a:clrScheme name="">
        <a:dk1>
          <a:srgbClr val="FFFFFF"/>
        </a:dk1>
        <a:lt1>
          <a:srgbClr val="000099"/>
        </a:lt1>
        <a:dk2>
          <a:srgbClr val="CCFFFF"/>
        </a:dk2>
        <a:lt2>
          <a:srgbClr val="003366"/>
        </a:lt2>
        <a:accent1>
          <a:srgbClr val="3366CC"/>
        </a:accent1>
        <a:accent2>
          <a:srgbClr val="00B000"/>
        </a:accent2>
        <a:accent3>
          <a:srgbClr val="AAAACA"/>
        </a:accent3>
        <a:accent4>
          <a:srgbClr val="DCDCDC"/>
        </a:accent4>
        <a:accent5>
          <a:srgbClr val="ADB9E2"/>
        </a:accent5>
        <a:accent6>
          <a:srgbClr val="009D00"/>
        </a:accent6>
        <a:hlink>
          <a:srgbClr val="66CCFF"/>
        </a:hlink>
        <a:folHlink>
          <a:srgbClr val="FFE701"/>
        </a:folHlink>
      </a:clrScheme>
      <a:clrMap bg1="lt1" tx1="dk1" bg2="lt2" tx2="dk2" accent1="accent1" accent2="accent2" accent3="accent3" accent4="accent4" accent5="accent5" accent6="accent6" hlink="hlink" folHlink="folHlink"/>
    </a:extraClrScheme>
    <a:extraClrScheme>
      <a:clrScheme name="">
        <a:dk1>
          <a:srgbClr val="FFFFFF"/>
        </a:dk1>
        <a:lt1>
          <a:srgbClr val="000000"/>
        </a:lt1>
        <a:dk2>
          <a:srgbClr val="E3EBF1"/>
        </a:dk2>
        <a:lt2>
          <a:srgbClr val="336699"/>
        </a:lt2>
        <a:accent1>
          <a:srgbClr val="003399"/>
        </a:accent1>
        <a:accent2>
          <a:srgbClr val="468A4B"/>
        </a:accent2>
        <a:accent3>
          <a:srgbClr val="AAAAAA"/>
        </a:accent3>
        <a:accent4>
          <a:srgbClr val="DCDCDC"/>
        </a:accent4>
        <a:accent5>
          <a:srgbClr val="AAADCA"/>
        </a:accent5>
        <a:accent6>
          <a:srgbClr val="3E7B43"/>
        </a:accent6>
        <a:hlink>
          <a:srgbClr val="66CCFF"/>
        </a:hlink>
        <a:folHlink>
          <a:srgbClr val="F0E500"/>
        </a:folHlink>
      </a:clrScheme>
      <a:clrMap bg1="lt1" tx1="dk1" bg2="lt2" tx2="dk2" accent1="accent1" accent2="accent2" accent3="accent3" accent4="accent4" accent5="accent5" accent6="accent6" hlink="hlink" folHlink="folHlink"/>
    </a:extraClrScheme>
    <a:extraClrScheme>
      <a:clrScheme name="">
        <a:dk1>
          <a:srgbClr val="FFFFFF"/>
        </a:dk1>
        <a:lt1>
          <a:srgbClr val="686B5D"/>
        </a:lt1>
        <a:dk2>
          <a:srgbClr val="D1D1CB"/>
        </a:dk2>
        <a:lt2>
          <a:srgbClr val="777777"/>
        </a:lt2>
        <a:accent1>
          <a:srgbClr val="909082"/>
        </a:accent1>
        <a:accent2>
          <a:srgbClr val="809EA8"/>
        </a:accent2>
        <a:accent3>
          <a:srgbClr val="B9BAB6"/>
        </a:accent3>
        <a:accent4>
          <a:srgbClr val="DCDCDC"/>
        </a:accent4>
        <a:accent5>
          <a:srgbClr val="C7C7C1"/>
        </a:accent5>
        <a:accent6>
          <a:srgbClr val="728D96"/>
        </a:accent6>
        <a:hlink>
          <a:srgbClr val="FFCC66"/>
        </a:hlink>
        <a:folHlink>
          <a:srgbClr val="E9DCB9"/>
        </a:folHlink>
      </a:clrScheme>
      <a:clrMap bg1="lt1" tx1="dk1" bg2="lt2" tx2="dk2" accent1="accent1" accent2="accent2" accent3="accent3" accent4="accent4" accent5="accent5" accent6="accent6" hlink="hlink" folHlink="folHlink"/>
    </a:extraClrScheme>
    <a:extraClrScheme>
      <a:clrScheme name="">
        <a:dk1>
          <a:srgbClr val="FFFFFF"/>
        </a:dk1>
        <a:lt1>
          <a:srgbClr val="666699"/>
        </a:lt1>
        <a:dk2>
          <a:srgbClr val="FFFFFF"/>
        </a:dk2>
        <a:lt2>
          <a:srgbClr val="3E3E5C"/>
        </a:lt2>
        <a:accent1>
          <a:srgbClr val="60597B"/>
        </a:accent1>
        <a:accent2>
          <a:srgbClr val="6666FF"/>
        </a:accent2>
        <a:accent3>
          <a:srgbClr val="B9B9CA"/>
        </a:accent3>
        <a:accent4>
          <a:srgbClr val="DCDCDC"/>
        </a:accent4>
        <a:accent5>
          <a:srgbClr val="B7B5BF"/>
        </a:accent5>
        <a:accent6>
          <a:srgbClr val="5B5BE5"/>
        </a:accent6>
        <a:hlink>
          <a:srgbClr val="99CCFF"/>
        </a:hlink>
        <a:folHlink>
          <a:srgbClr val="FFFF99"/>
        </a:folHlink>
      </a:clrScheme>
      <a:clrMap bg1="lt1" tx1="dk1" bg2="lt2" tx2="dk2" accent1="accent1" accent2="accent2" accent3="accent3" accent4="accent4" accent5="accent5" accent6="accent6" hlink="hlink" folHlink="folHlink"/>
    </a:extraClrScheme>
    <a:extraClrScheme>
      <a:clrScheme name="">
        <a:dk1>
          <a:srgbClr val="FFFFFF"/>
        </a:dk1>
        <a:lt1>
          <a:srgbClr val="523E26"/>
        </a:lt1>
        <a:dk2>
          <a:srgbClr val="DFC08D"/>
        </a:dk2>
        <a:lt2>
          <a:srgbClr val="2D2015"/>
        </a:lt2>
        <a:accent1>
          <a:srgbClr val="8C7B70"/>
        </a:accent1>
        <a:accent2>
          <a:srgbClr val="8F5F2F"/>
        </a:accent2>
        <a:accent3>
          <a:srgbClr val="B3AFAB"/>
        </a:accent3>
        <a:accent4>
          <a:srgbClr val="DCDCDC"/>
        </a:accent4>
        <a:accent5>
          <a:srgbClr val="C5BFBC"/>
        </a:accent5>
        <a:accent6>
          <a:srgbClr val="805529"/>
        </a:accent6>
        <a:hlink>
          <a:srgbClr val="CCB400"/>
        </a:hlink>
        <a:folHlink>
          <a:srgbClr val="8C9EA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7DB6EF"/>
        </a:accent1>
        <a:accent2>
          <a:srgbClr val="C0504D"/>
        </a:accent2>
        <a:accent3>
          <a:srgbClr val="FFFFFF"/>
        </a:accent3>
        <a:accent4>
          <a:srgbClr val="000000"/>
        </a:accent4>
        <a:accent5>
          <a:srgbClr val="C0D7F5"/>
        </a:accent5>
        <a:accent6>
          <a:srgbClr val="AC4744"/>
        </a:accent6>
        <a:hlink>
          <a:srgbClr val="0066CC"/>
        </a:hlink>
        <a:folHlink>
          <a:srgbClr val="80008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3899</Words>
  <Application>WPS Writer</Application>
  <PresentationFormat>On-screen Show (4:3)</PresentationFormat>
  <Paragraphs>101</Paragraphs>
  <Slides>16</Slides>
  <Notes>0</Notes>
  <HiddenSlides>0</HiddenSlides>
  <MMClips>0</MMClips>
  <ScaleCrop>false</ScaleCrop>
  <HeadingPairs>
    <vt:vector size="6" baseType="variant">
      <vt:variant>
        <vt:lpstr>已用的字体</vt:lpstr>
      </vt:variant>
      <vt:variant>
        <vt:i4>15</vt:i4>
      </vt:variant>
      <vt:variant>
        <vt:lpstr>主题</vt:lpstr>
      </vt:variant>
      <vt:variant>
        <vt:i4>1</vt:i4>
      </vt:variant>
      <vt:variant>
        <vt:lpstr>幻灯片标题</vt:lpstr>
      </vt:variant>
      <vt:variant>
        <vt:i4>16</vt:i4>
      </vt:variant>
    </vt:vector>
  </HeadingPairs>
  <TitlesOfParts>
    <vt:vector size="32" baseType="lpstr">
      <vt:lpstr>Arial</vt:lpstr>
      <vt:lpstr>SimSun</vt:lpstr>
      <vt:lpstr>Wingdings</vt:lpstr>
      <vt:lpstr>Arial</vt:lpstr>
      <vt:lpstr>Calibri</vt:lpstr>
      <vt:lpstr>Helvetica Neue</vt:lpstr>
      <vt:lpstr>Microsoft YaHei</vt:lpstr>
      <vt:lpstr>汉仪旗黑</vt:lpstr>
      <vt:lpstr>Arial Unicode MS</vt:lpstr>
      <vt:lpstr>汉仪书宋二KW</vt:lpstr>
      <vt:lpstr>Times New Roman Regular</vt:lpstr>
      <vt:lpstr>Wingdings</vt:lpstr>
      <vt:lpstr>Times New Roman Bold</vt:lpstr>
      <vt:lpstr>Times New Roman</vt:lpstr>
      <vt:lpstr>Aptos Narrow</vt:lpstr>
      <vt:lpstr>Default Design</vt:lpstr>
      <vt:lpstr>Market Metric Presentation – LA Office Trends Q3 vs Q4</vt:lpstr>
      <vt:lpstr>Standout Negative Trend – West LA</vt:lpstr>
      <vt:lpstr>PowerPoint 演示文稿</vt:lpstr>
      <vt:lpstr>Key Market Metrics</vt:lpstr>
      <vt:lpstr>Key Market Metrics</vt:lpstr>
      <vt:lpstr>Key Market Metrics</vt:lpstr>
      <vt:lpstr>Key Market Metrics</vt:lpstr>
      <vt:lpstr>Key Market Metrics</vt:lpstr>
      <vt:lpstr>Standout Negative Trend – West LA</vt:lpstr>
      <vt:lpstr>Standout Positive Trend – Tri-Cities</vt:lpstr>
      <vt:lpstr>West LA Asking Rent Trend</vt:lpstr>
      <vt:lpstr>Net Absorption – West LA vs Tri-Cities</vt:lpstr>
      <vt:lpstr>Overall Vacancy % (Class A) – Q3 vs Q4</vt:lpstr>
      <vt:lpstr>Asking Rent (NNN $/SF Class A) – Q3 vs Q4</vt:lpstr>
      <vt:lpstr>Net Absorption (SF) – Q3 vs Q4</vt:lpstr>
      <vt:lpstr>SUMMARY – LA Office Market Trends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dc:description>generated using python-pptx</dc:description>
  <cp:lastModifiedBy>WPS_1697466342</cp:lastModifiedBy>
  <cp:revision>24</cp:revision>
  <dcterms:created xsi:type="dcterms:W3CDTF">2025-10-01T15:28:36Z</dcterms:created>
  <dcterms:modified xsi:type="dcterms:W3CDTF">2025-10-01T15:28:36Z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4D5D2AFB22D85E05A448DD68E3B8550A_43</vt:lpwstr>
  </property>
  <property fmtid="{D5CDD505-2E9C-101B-9397-08002B2CF9AE}" pid="3" name="KSOProductBuildVer">
    <vt:lpwstr>1033-12.1.21937.21937</vt:lpwstr>
  </property>
</Properties>
</file>