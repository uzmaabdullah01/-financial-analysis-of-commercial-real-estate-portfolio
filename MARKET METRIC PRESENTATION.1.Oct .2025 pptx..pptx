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73" r:id="rId6"/>
    <p:sldId id="274" r:id="rId7"/>
    <p:sldId id="279" r:id="rId8"/>
    <p:sldId id="275" r:id="rId9"/>
    <p:sldId id="280" r:id="rId10"/>
    <p:sldId id="276" r:id="rId11"/>
    <p:sldId id="271" r:id="rId12"/>
    <p:sldId id="258" r:id="rId13"/>
    <p:sldId id="282" r:id="rId14"/>
    <p:sldId id="262"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1" userDrawn="1">
          <p15:clr>
            <a:srgbClr val="A4A3A4"/>
          </p15:clr>
        </p15:guide>
        <p15:guide id="2" pos="2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11"/>
        <p:guide pos="291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uzmaabdullah/Desktop/Market%20Metric%20Presentation%20File.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Users/uzmaabdullah/Library/Messages/Attachments/57/07/7E9C354A-7E88-4755-967F-1842846149E9/quarter_variance_analysi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Users/uzmaabdullah/Library/Messages/Attachments/45/05/8B075C26-D2C1-416A-83D7-F382FB814969/quarter_variance_market_rent.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Users/uzmaabdullah/Library/Messages/Attachments/45/05/8B075C26-D2C1-416A-83D7-F382FB814969/quarter_variance_market_rent.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Users/uzmaabdullah/Library/Messages/Attachments/27/07/427457E1-1182-4577-8210-C2AA0F9A0D12/market_metrics_q4_with_char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SUB MARKET METRIC GRAPH</a:t>
            </a:r>
          </a:p>
        </c:rich>
      </c:tx>
      <c:layout>
        <c:manualLayout>
          <c:xMode val="edge"/>
          <c:yMode val="edge"/>
          <c:x val="0.341727535247155"/>
          <c:y val="0.00401123144805455"/>
        </c:manualLayout>
      </c:layout>
      <c:overlay val="0"/>
      <c:spPr>
        <a:noFill/>
        <a:ln>
          <a:noFill/>
        </a:ln>
        <a:effectLst/>
      </c:spPr>
    </c:title>
    <c:autoTitleDeleted val="0"/>
    <c:plotArea>
      <c:layout>
        <c:manualLayout>
          <c:layoutTarget val="inner"/>
          <c:xMode val="edge"/>
          <c:yMode val="edge"/>
          <c:x val="0.209818243587566"/>
          <c:y val="0.0184606368431334"/>
          <c:w val="0.787633769322235"/>
          <c:h val="0.686911506153546"/>
        </c:manualLayout>
      </c:layout>
      <c:barChart>
        <c:barDir val="col"/>
        <c:grouping val="clustered"/>
        <c:varyColors val="0"/>
        <c:ser>
          <c:idx val="0"/>
          <c:order val="0"/>
          <c:tx>
            <c:strRef>
              <c:f>'[Market Metric Presentation File.xlsx]Sheet2'!$A$4</c:f>
              <c:strCache>
                <c:ptCount val="1"/>
                <c:pt idx="0">
                  <c:v>Submarket</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File.xlsx]Sheet2'!$B$4:$S$4</c:f>
              <c:numCache>
                <c:formatCode>General</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ser>
        <c:ser>
          <c:idx val="1"/>
          <c:order val="1"/>
          <c:tx>
            <c:strRef>
              <c:f>'[Market Metric Presentation File.xlsx]Sheet2'!$A$5</c:f>
              <c:strCache>
                <c:ptCount val="1"/>
                <c:pt idx="0">
                  <c:v>LA CBD</c:v>
                </c:pt>
              </c:strCache>
            </c:strRef>
          </c:tx>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a:outerShdw blurRad="76200" dist="25400" dir="2700000" algn="tl" rotWithShape="0">
                <a:schemeClr val="accent2">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File.xlsx]Sheet2'!$B$5:$S$5</c:f>
              <c:numCache>
                <c:formatCode>_(* #,##0_);_(* \(#,##0\);_(* "-"??_);_(@_)</c:formatCode>
                <c:ptCount val="18"/>
                <c:pt idx="0">
                  <c:v>24106280</c:v>
                </c:pt>
                <c:pt idx="1">
                  <c:v>24106280</c:v>
                </c:pt>
                <c:pt idx="2" c:formatCode="General">
                  <c:v>0</c:v>
                </c:pt>
                <c:pt idx="3">
                  <c:v>6205111</c:v>
                </c:pt>
                <c:pt idx="4">
                  <c:v>6090331</c:v>
                </c:pt>
                <c:pt idx="5">
                  <c:v>-114780</c:v>
                </c:pt>
                <c:pt idx="6" c:formatCode="0.0%">
                  <c:v>0.257406410279811</c:v>
                </c:pt>
                <c:pt idx="7" c:formatCode="0.0%">
                  <c:v>0.252644995411984</c:v>
                </c:pt>
                <c:pt idx="8" c:formatCode="General">
                  <c:v>-0.004761414867827</c:v>
                </c:pt>
                <c:pt idx="9" c:formatCode="&quot;$&quot;#,##0.00_);[Red]\(&quot;$&quot;#,##0.00\)">
                  <c:v>29</c:v>
                </c:pt>
                <c:pt idx="10" c:formatCode="&quot;$&quot;#,##0.00_);[Red]\(&quot;$&quot;#,##0.00\)">
                  <c:v>29</c:v>
                </c:pt>
                <c:pt idx="11" c:formatCode="&quot;$&quot;#,##0.00_);[Red]\(&quot;$&quot;#,##0.00\)">
                  <c:v>0</c:v>
                </c:pt>
                <c:pt idx="12">
                  <c:v>-703653</c:v>
                </c:pt>
                <c:pt idx="13">
                  <c:v>-686108</c:v>
                </c:pt>
                <c:pt idx="14">
                  <c:v>17545</c:v>
                </c:pt>
                <c:pt idx="15">
                  <c:v>0</c:v>
                </c:pt>
                <c:pt idx="16">
                  <c:v>0</c:v>
                </c:pt>
                <c:pt idx="17">
                  <c:v>0</c:v>
                </c:pt>
              </c:numCache>
            </c:numRef>
          </c:val>
        </c:ser>
        <c:ser>
          <c:idx val="2"/>
          <c:order val="2"/>
          <c:tx>
            <c:strRef>
              <c:f>'[Market Metric Presentation File.xlsx]Sheet2'!$A$6</c:f>
              <c:strCache>
                <c:ptCount val="1"/>
                <c:pt idx="0">
                  <c:v>West LA</c:v>
                </c:pt>
              </c:strCache>
            </c:strRef>
          </c:tx>
          <c:spPr>
            <a:gradFill>
              <a:gsLst>
                <a:gs pos="0">
                  <a:schemeClr val="accent3">
                    <a:lumMod val="40000"/>
                    <a:lumOff val="60000"/>
                  </a:schemeClr>
                </a:gs>
                <a:gs pos="90000">
                  <a:schemeClr val="accent3"/>
                </a:gs>
              </a:gsLst>
              <a:lin ang="5400000" scaled="0"/>
            </a:gradFill>
            <a:ln>
              <a:gradFill>
                <a:gsLst>
                  <a:gs pos="0">
                    <a:schemeClr val="accent3"/>
                  </a:gs>
                  <a:gs pos="100000">
                    <a:schemeClr val="accent3">
                      <a:lumMod val="75000"/>
                    </a:schemeClr>
                  </a:gs>
                </a:gsLst>
                <a:lin ang="5400000" scaled="1"/>
              </a:gradFill>
            </a:ln>
            <a:effectLst>
              <a:outerShdw blurRad="76200" dist="25400" dir="2700000" algn="tl" rotWithShape="0">
                <a:schemeClr val="accent3">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File.xlsx]Sheet2'!$B$6:$S$6</c:f>
              <c:numCache>
                <c:formatCode>_(* #,##0_);_(* \(#,##0\);_(* "-"??_);_(@_)</c:formatCode>
                <c:ptCount val="18"/>
                <c:pt idx="0">
                  <c:v>46523600</c:v>
                </c:pt>
                <c:pt idx="1">
                  <c:v>46590080</c:v>
                </c:pt>
                <c:pt idx="2" c:formatCode="General">
                  <c:v>66480</c:v>
                </c:pt>
                <c:pt idx="3">
                  <c:v>12141599</c:v>
                </c:pt>
                <c:pt idx="4">
                  <c:v>12744158</c:v>
                </c:pt>
                <c:pt idx="5">
                  <c:v>602559</c:v>
                </c:pt>
                <c:pt idx="6" c:formatCode="0.0%">
                  <c:v>0.260977202967956</c:v>
                </c:pt>
                <c:pt idx="7" c:formatCode="0.0%">
                  <c:v>0.273538014959408</c:v>
                </c:pt>
                <c:pt idx="8" c:formatCode="General">
                  <c:v>0.012560811991452</c:v>
                </c:pt>
                <c:pt idx="9" c:formatCode="&quot;$&quot;#,##0.00_);[Red]\(&quot;$&quot;#,##0.00\)">
                  <c:v>52</c:v>
                </c:pt>
                <c:pt idx="10" c:formatCode="&quot;$&quot;#,##0.00_);[Red]\(&quot;$&quot;#,##0.00\)">
                  <c:v>52.25</c:v>
                </c:pt>
                <c:pt idx="11" c:formatCode="&quot;$&quot;#,##0.00_);[Red]\(&quot;$&quot;#,##0.00\)">
                  <c:v>0.25</c:v>
                </c:pt>
                <c:pt idx="12">
                  <c:v>-1051001</c:v>
                </c:pt>
                <c:pt idx="13">
                  <c:v>-1787944</c:v>
                </c:pt>
                <c:pt idx="14">
                  <c:v>-736943</c:v>
                </c:pt>
                <c:pt idx="15">
                  <c:v>925368</c:v>
                </c:pt>
                <c:pt idx="16">
                  <c:v>0</c:v>
                </c:pt>
                <c:pt idx="17">
                  <c:v>-925368</c:v>
                </c:pt>
              </c:numCache>
            </c:numRef>
          </c:val>
        </c:ser>
        <c:ser>
          <c:idx val="3"/>
          <c:order val="3"/>
          <c:tx>
            <c:strRef>
              <c:f>'[Market Metric Presentation File.xlsx]Sheet2'!$A$7</c:f>
              <c:strCache>
                <c:ptCount val="1"/>
                <c:pt idx="0">
                  <c:v>El Segundo / Beach Cities</c:v>
                </c:pt>
              </c:strCache>
            </c:strRef>
          </c:tx>
          <c:spPr>
            <a:gradFill>
              <a:gsLst>
                <a:gs pos="0">
                  <a:schemeClr val="accent4">
                    <a:lumMod val="40000"/>
                    <a:lumOff val="60000"/>
                  </a:schemeClr>
                </a:gs>
                <a:gs pos="90000">
                  <a:schemeClr val="accent4"/>
                </a:gs>
              </a:gsLst>
              <a:lin ang="5400000" scaled="0"/>
            </a:gradFill>
            <a:ln>
              <a:gradFill>
                <a:gsLst>
                  <a:gs pos="0">
                    <a:schemeClr val="accent4"/>
                  </a:gs>
                  <a:gs pos="100000">
                    <a:schemeClr val="accent4">
                      <a:lumMod val="75000"/>
                    </a:schemeClr>
                  </a:gs>
                </a:gsLst>
                <a:lin ang="5400000" scaled="1"/>
              </a:gradFill>
            </a:ln>
            <a:effectLst>
              <a:outerShdw blurRad="76200" dist="25400" dir="2700000" algn="tl" rotWithShape="0">
                <a:schemeClr val="accent4">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File.xlsx]Sheet2'!$B$7:$S$7</c:f>
              <c:numCache>
                <c:formatCode>_(* #,##0_);_(* \(#,##0\);_(* "-"??_);_(@_)</c:formatCode>
                <c:ptCount val="18"/>
                <c:pt idx="0">
                  <c:v>8057290</c:v>
                </c:pt>
                <c:pt idx="1">
                  <c:v>8057290</c:v>
                </c:pt>
                <c:pt idx="2" c:formatCode="General">
                  <c:v>0</c:v>
                </c:pt>
                <c:pt idx="3">
                  <c:v>1933812</c:v>
                </c:pt>
                <c:pt idx="4">
                  <c:v>2220098</c:v>
                </c:pt>
                <c:pt idx="5">
                  <c:v>286286</c:v>
                </c:pt>
                <c:pt idx="6" c:formatCode="0.0%">
                  <c:v>0.240007744539417</c:v>
                </c:pt>
                <c:pt idx="7" c:formatCode="0.0%">
                  <c:v>0.275539046006784</c:v>
                </c:pt>
                <c:pt idx="8" c:formatCode="General">
                  <c:v>0.035531301467367</c:v>
                </c:pt>
                <c:pt idx="9" c:formatCode="&quot;$&quot;#,##0.00_);[Red]\(&quot;$&quot;#,##0.00\)">
                  <c:v>41.5</c:v>
                </c:pt>
                <c:pt idx="10" c:formatCode="&quot;$&quot;#,##0.00_);[Red]\(&quot;$&quot;#,##0.00\)">
                  <c:v>36.25</c:v>
                </c:pt>
                <c:pt idx="11" c:formatCode="&quot;$&quot;#,##0.00_);[Red]\(&quot;$&quot;#,##0.00\)">
                  <c:v>-5.25</c:v>
                </c:pt>
                <c:pt idx="12">
                  <c:v>140823</c:v>
                </c:pt>
                <c:pt idx="13">
                  <c:v>-163510</c:v>
                </c:pt>
                <c:pt idx="14">
                  <c:v>-304333</c:v>
                </c:pt>
                <c:pt idx="15">
                  <c:v>145000</c:v>
                </c:pt>
                <c:pt idx="16">
                  <c:v>145000</c:v>
                </c:pt>
                <c:pt idx="17">
                  <c:v>0</c:v>
                </c:pt>
              </c:numCache>
            </c:numRef>
          </c:val>
        </c:ser>
        <c:ser>
          <c:idx val="4"/>
          <c:order val="4"/>
          <c:tx>
            <c:strRef>
              <c:f>'[Market Metric Presentation File.xlsx]Sheet2'!$A$8</c:f>
              <c:strCache>
                <c:ptCount val="1"/>
                <c:pt idx="0">
                  <c:v>Tri-Cities</c:v>
                </c:pt>
              </c:strCache>
            </c:strRef>
          </c:tx>
          <c:spPr>
            <a:gradFill>
              <a:gsLst>
                <a:gs pos="0">
                  <a:schemeClr val="accent5">
                    <a:lumMod val="40000"/>
                    <a:lumOff val="60000"/>
                  </a:schemeClr>
                </a:gs>
                <a:gs pos="90000">
                  <a:schemeClr val="accent5"/>
                </a:gs>
              </a:gsLst>
              <a:lin ang="5400000" scaled="0"/>
            </a:gradFill>
            <a:ln>
              <a:gradFill>
                <a:gsLst>
                  <a:gs pos="0">
                    <a:schemeClr val="accent5"/>
                  </a:gs>
                  <a:gs pos="100000">
                    <a:schemeClr val="accent5">
                      <a:lumMod val="75000"/>
                    </a:schemeClr>
                  </a:gs>
                </a:gsLst>
                <a:lin ang="5400000" scaled="1"/>
              </a:gradFill>
            </a:ln>
            <a:effectLst>
              <a:outerShdw blurRad="76200" dist="25400" dir="2700000" algn="tl" rotWithShape="0">
                <a:schemeClr val="accent5">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File.xlsx]Sheet2'!$B$8:$S$8</c:f>
              <c:numCache>
                <c:formatCode>_(* #,##0_);_(* \(#,##0\);_(* "-"??_);_(@_)</c:formatCode>
                <c:ptCount val="18"/>
                <c:pt idx="0">
                  <c:v>20931456</c:v>
                </c:pt>
                <c:pt idx="1">
                  <c:v>20440998</c:v>
                </c:pt>
                <c:pt idx="2" c:formatCode="General">
                  <c:v>-490458</c:v>
                </c:pt>
                <c:pt idx="3">
                  <c:v>4584554</c:v>
                </c:pt>
                <c:pt idx="4">
                  <c:v>4639348</c:v>
                </c:pt>
                <c:pt idx="5">
                  <c:v>54794</c:v>
                </c:pt>
                <c:pt idx="6" c:formatCode="0.0%">
                  <c:v>0.219026999364019</c:v>
                </c:pt>
                <c:pt idx="7" c:formatCode="0.0%">
                  <c:v>0.226962890950823</c:v>
                </c:pt>
                <c:pt idx="8" c:formatCode="General">
                  <c:v>0.00793589158680399</c:v>
                </c:pt>
                <c:pt idx="9" c:formatCode="&quot;$&quot;#,##0.00_);[Red]\(&quot;$&quot;#,##0.00\)">
                  <c:v>36.5</c:v>
                </c:pt>
                <c:pt idx="10" c:formatCode="&quot;$&quot;#,##0.00_);[Red]\(&quot;$&quot;#,##0.00\)">
                  <c:v>25.5</c:v>
                </c:pt>
                <c:pt idx="11" c:formatCode="&quot;$&quot;#,##0.00_);[Red]\(&quot;$&quot;#,##0.00\)">
                  <c:v>-11</c:v>
                </c:pt>
                <c:pt idx="12">
                  <c:v>489301</c:v>
                </c:pt>
                <c:pt idx="13">
                  <c:v>268209</c:v>
                </c:pt>
                <c:pt idx="14">
                  <c:v>-221092</c:v>
                </c:pt>
                <c:pt idx="15">
                  <c:v>229295</c:v>
                </c:pt>
                <c:pt idx="16">
                  <c:v>0</c:v>
                </c:pt>
                <c:pt idx="17">
                  <c:v>-229295</c:v>
                </c:pt>
              </c:numCache>
            </c:numRef>
          </c:val>
        </c:ser>
        <c:ser>
          <c:idx val="5"/>
          <c:order val="5"/>
          <c:tx>
            <c:strRef>
              <c:f>'[Market Metric Presentation File.xlsx]Sheet2'!$A$9</c:f>
              <c:strCache>
                <c:ptCount val="1"/>
                <c:pt idx="0">
                  <c:v>Hollywood / Wilshire Corr.</c:v>
                </c:pt>
              </c:strCache>
            </c:strRef>
          </c:tx>
          <c:spPr>
            <a:gradFill>
              <a:gsLst>
                <a:gs pos="0">
                  <a:schemeClr val="accent6">
                    <a:lumMod val="40000"/>
                    <a:lumOff val="60000"/>
                  </a:schemeClr>
                </a:gs>
                <a:gs pos="90000">
                  <a:schemeClr val="accent6"/>
                </a:gs>
              </a:gsLst>
              <a:lin ang="5400000" scaled="0"/>
            </a:gradFill>
            <a:ln>
              <a:gradFill>
                <a:gsLst>
                  <a:gs pos="0">
                    <a:schemeClr val="accent6"/>
                  </a:gs>
                  <a:gs pos="100000">
                    <a:schemeClr val="accent6">
                      <a:lumMod val="75000"/>
                    </a:schemeClr>
                  </a:gs>
                </a:gsLst>
                <a:lin ang="5400000" scaled="1"/>
              </a:gradFill>
            </a:ln>
            <a:effectLst>
              <a:outerShdw blurRad="76200" dist="25400" dir="2700000" algn="tl" rotWithShape="0">
                <a:schemeClr val="accent6">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File.xlsx]Sheet2'!$B$9:$S$9</c:f>
              <c:numCache>
                <c:formatCode>_(* #,##0_);_(* \(#,##0\);_(* "-"??_);_(@_)</c:formatCode>
                <c:ptCount val="18"/>
                <c:pt idx="0">
                  <c:v>7181863</c:v>
                </c:pt>
                <c:pt idx="1">
                  <c:v>7181863</c:v>
                </c:pt>
                <c:pt idx="2" c:formatCode="General">
                  <c:v>0</c:v>
                </c:pt>
                <c:pt idx="3">
                  <c:v>2055592</c:v>
                </c:pt>
                <c:pt idx="4">
                  <c:v>2049964</c:v>
                </c:pt>
                <c:pt idx="5">
                  <c:v>-5628</c:v>
                </c:pt>
                <c:pt idx="6" c:formatCode="0.0%">
                  <c:v>0.286</c:v>
                </c:pt>
                <c:pt idx="7" c:formatCode="0.0%">
                  <c:v>0.285436244049768</c:v>
                </c:pt>
                <c:pt idx="8" c:formatCode="General">
                  <c:v>-0.000563755950232059</c:v>
                </c:pt>
                <c:pt idx="9" c:formatCode="&quot;$&quot;#,##0.00_);[Red]\(&quot;$&quot;#,##0.00\)">
                  <c:v>34.5</c:v>
                </c:pt>
                <c:pt idx="10" c:formatCode="&quot;$&quot;#,##0.00_);[Red]\(&quot;$&quot;#,##0.00\)">
                  <c:v>31.25</c:v>
                </c:pt>
                <c:pt idx="11" c:formatCode="&quot;$&quot;#,##0.00_);[Red]\(&quot;$&quot;#,##0.00\)">
                  <c:v>-3.25</c:v>
                </c:pt>
                <c:pt idx="12">
                  <c:v>-196922</c:v>
                </c:pt>
                <c:pt idx="13">
                  <c:v>-191424</c:v>
                </c:pt>
                <c:pt idx="14">
                  <c:v>5498</c:v>
                </c:pt>
                <c:pt idx="15">
                  <c:v>0</c:v>
                </c:pt>
                <c:pt idx="16">
                  <c:v>0</c:v>
                </c:pt>
                <c:pt idx="17">
                  <c:v>0</c:v>
                </c:pt>
              </c:numCache>
            </c:numRef>
          </c:val>
        </c:ser>
        <c:dLbls>
          <c:showLegendKey val="0"/>
          <c:showVal val="0"/>
          <c:showCatName val="0"/>
          <c:showSerName val="0"/>
          <c:showPercent val="0"/>
          <c:showBubbleSize val="0"/>
        </c:dLbls>
        <c:gapWidth val="216"/>
        <c:overlap val="-32"/>
        <c:axId val="805927221"/>
        <c:axId val="283771850"/>
      </c:barChart>
      <c:catAx>
        <c:axId val="80592722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83771850"/>
        <c:crosses val="autoZero"/>
        <c:auto val="1"/>
        <c:lblAlgn val="ctr"/>
        <c:lblOffset val="100"/>
        <c:noMultiLvlLbl val="0"/>
      </c:catAx>
      <c:valAx>
        <c:axId val="283771850"/>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SQUARE FEET</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0592722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dTable>
      <c:spPr>
        <a:noFill/>
        <a:ln>
          <a:noFill/>
        </a:ln>
        <a:effectLst/>
      </c:spPr>
    </c:plotArea>
    <c:plotVisOnly val="1"/>
    <c:dispBlanksAs val="gap"/>
    <c:showDLblsOverMax val="0"/>
    <c:extLst>
      <c:ext uri="{0b15fc19-7d7d-44ad-8c2d-2c3a37ce22c3}">
        <chartProps xmlns="https://web.wps.cn/et/2018/main" chartId="{34dde99e-b85b-4ca1-ab66-4bd42a91b3ca}"/>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1" i="0" u="none" strike="noStrike" kern="1200" baseline="0">
                <a:solidFill>
                  <a:schemeClr val="tx1"/>
                </a:solidFill>
                <a:latin typeface="+mn-lt"/>
                <a:ea typeface="+mn-ea"/>
                <a:cs typeface="+mn-cs"/>
              </a:defRPr>
            </a:pPr>
            <a:r>
              <a:rPr sz="1600"/>
              <a:t>Quarter Variance Analysis – Vacancy % (Q3 vs Q4)</a:t>
            </a:r>
            <a:endParaRPr sz="1600"/>
          </a:p>
        </c:rich>
      </c:tx>
      <c:layout/>
      <c:overlay val="0"/>
    </c:title>
    <c:autoTitleDeleted val="0"/>
    <c:plotArea>
      <c:layout/>
      <c:barChart>
        <c:barDir val="col"/>
        <c:grouping val="clustered"/>
        <c:varyColors val="0"/>
        <c:ser>
          <c:idx val="0"/>
          <c:order val="0"/>
          <c:tx>
            <c:strRef>
              <c:f>'[quarter_variance_analysis.xlsx]Quarter Variance'!$D$1</c:f>
              <c:strCache>
                <c:ptCount val="1"/>
                <c:pt idx="0">
                  <c:v>Vacancy % Q3</c:v>
                </c:pt>
              </c:strCache>
            </c:strRef>
          </c:tx>
          <c:spPr>
            <a:ln>
              <a:noFill/>
              <a:prstDash val="solid"/>
            </a:ln>
          </c:spPr>
          <c:invertIfNegative val="0"/>
          <c:dLbls>
            <c:delete val="1"/>
          </c:dLbls>
          <c:cat>
            <c:strRef>
              <c:f>'[quarter_variance_analysis.xlsx]Quarter Variance'!$A$2:$A$6</c:f>
              <c:strCache>
                <c:ptCount val="5"/>
                <c:pt idx="0">
                  <c:v>LA CBD</c:v>
                </c:pt>
                <c:pt idx="1">
                  <c:v>West LA</c:v>
                </c:pt>
                <c:pt idx="2">
                  <c:v>El Segundo</c:v>
                </c:pt>
                <c:pt idx="3">
                  <c:v>Tri-Cities</c:v>
                </c:pt>
                <c:pt idx="4">
                  <c:v>Hollywood</c:v>
                </c:pt>
              </c:strCache>
            </c:strRef>
          </c:cat>
          <c:val>
            <c:numRef>
              <c:f>'[quarter_variance_analysis.xlsx]Quarter Variance'!$D$2:$D$6</c:f>
              <c:numCache>
                <c:formatCode>General</c:formatCode>
                <c:ptCount val="5"/>
                <c:pt idx="0">
                  <c:v>25.7</c:v>
                </c:pt>
                <c:pt idx="1">
                  <c:v>26.1</c:v>
                </c:pt>
                <c:pt idx="2">
                  <c:v>24</c:v>
                </c:pt>
                <c:pt idx="3">
                  <c:v>21.9</c:v>
                </c:pt>
                <c:pt idx="4">
                  <c:v>28.6</c:v>
                </c:pt>
              </c:numCache>
            </c:numRef>
          </c:val>
        </c:ser>
        <c:ser>
          <c:idx val="1"/>
          <c:order val="1"/>
          <c:tx>
            <c:strRef>
              <c:f>'[quarter_variance_analysis.xlsx]Quarter Variance'!$E$1</c:f>
              <c:strCache>
                <c:ptCount val="1"/>
                <c:pt idx="0">
                  <c:v>Vacancy % Q4</c:v>
                </c:pt>
              </c:strCache>
            </c:strRef>
          </c:tx>
          <c:spPr>
            <a:ln>
              <a:noFill/>
              <a:prstDash val="solid"/>
            </a:ln>
          </c:spPr>
          <c:invertIfNegative val="0"/>
          <c:dLbls>
            <c:delete val="1"/>
          </c:dLbls>
          <c:cat>
            <c:strRef>
              <c:f>'[quarter_variance_analysis.xlsx]Quarter Variance'!$A$2:$A$6</c:f>
              <c:strCache>
                <c:ptCount val="5"/>
                <c:pt idx="0">
                  <c:v>LA CBD</c:v>
                </c:pt>
                <c:pt idx="1">
                  <c:v>West LA</c:v>
                </c:pt>
                <c:pt idx="2">
                  <c:v>El Segundo</c:v>
                </c:pt>
                <c:pt idx="3">
                  <c:v>Tri-Cities</c:v>
                </c:pt>
                <c:pt idx="4">
                  <c:v>Hollywood</c:v>
                </c:pt>
              </c:strCache>
            </c:strRef>
          </c:cat>
          <c:val>
            <c:numRef>
              <c:f>'[quarter_variance_analysis.xlsx]Quarter Variance'!$E$2:$E$6</c:f>
              <c:numCache>
                <c:formatCode>General</c:formatCode>
                <c:ptCount val="5"/>
                <c:pt idx="0">
                  <c:v>25.3</c:v>
                </c:pt>
                <c:pt idx="1">
                  <c:v>27.4</c:v>
                </c:pt>
                <c:pt idx="2">
                  <c:v>27.6</c:v>
                </c:pt>
                <c:pt idx="3">
                  <c:v>22.7</c:v>
                </c:pt>
                <c:pt idx="4">
                  <c:v>28.5</c:v>
                </c:pt>
              </c:numCache>
            </c:numRef>
          </c:val>
        </c:ser>
        <c:dLbls>
          <c:showLegendKey val="0"/>
          <c:showVal val="0"/>
          <c:showCatName val="0"/>
          <c:showSerName val="0"/>
          <c:showPercent val="0"/>
          <c:showBubbleSize val="0"/>
        </c:dLbls>
        <c:gapWidth val="150"/>
        <c:axId val="10"/>
        <c:axId val="100"/>
      </c:barChart>
      <c:catAx>
        <c:axId val="10"/>
        <c:scaling>
          <c:orientation val="minMax"/>
        </c:scaling>
        <c:delete val="0"/>
        <c:axPos val="b"/>
        <c:title>
          <c:tx>
            <c:rich>
              <a:bodyPr rot="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Submarkets</a:t>
                </a:r>
              </a:p>
            </c:rich>
          </c:tx>
          <c:layout/>
          <c:overlay val="0"/>
        </c:title>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0"/>
        <c:crosses val="autoZero"/>
        <c:auto val="0"/>
        <c:lblAlgn val="ctr"/>
        <c:lblOffset val="100"/>
        <c:noMultiLvlLbl val="0"/>
      </c:catAx>
      <c:valAx>
        <c:axId val="100"/>
        <c:scaling>
          <c:orientation val="minMax"/>
        </c:scaling>
        <c:delete val="0"/>
        <c:axPos val="l"/>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Vacancy %</a:t>
                </a:r>
              </a:p>
            </c:rich>
          </c:tx>
          <c:layout/>
          <c:overlay val="0"/>
        </c:title>
        <c:numFmt formatCode="General" sourceLinked="1"/>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
        <c:crosses val="autoZero"/>
        <c:crossBetween val="between"/>
      </c:valAx>
    </c:plotArea>
    <c:legend>
      <c:legendPos val="r"/>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3d3f06d-1dbe-44c5-9653-8dc0ee72db96}"/>
      </c:ext>
    </c:extLst>
  </c:chart>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1" i="0" u="none" strike="noStrike" kern="1200" baseline="0">
                <a:solidFill>
                  <a:schemeClr val="tx1"/>
                </a:solidFill>
                <a:latin typeface="+mn-lt"/>
                <a:ea typeface="+mn-ea"/>
                <a:cs typeface="+mn-cs"/>
              </a:defRPr>
            </a:pPr>
            <a:r>
              <a:rPr sz="1600"/>
              <a:t>Quarter Variance – Market Size (Q3 vs Q4)</a:t>
            </a:r>
            <a:endParaRPr sz="1600"/>
          </a:p>
        </c:rich>
      </c:tx>
      <c:layout/>
      <c:overlay val="0"/>
    </c:title>
    <c:autoTitleDeleted val="0"/>
    <c:plotArea>
      <c:layout/>
      <c:barChart>
        <c:barDir val="col"/>
        <c:grouping val="clustered"/>
        <c:varyColors val="0"/>
        <c:ser>
          <c:idx val="0"/>
          <c:order val="0"/>
          <c:tx>
            <c:strRef>
              <c:f>'[quarter_variance_market_rent.xlsx]Quarter Variance'!$B$1</c:f>
              <c:strCache>
                <c:ptCount val="1"/>
                <c:pt idx="0">
                  <c:v>Market Size Q3 (SF)</c:v>
                </c:pt>
              </c:strCache>
            </c:strRef>
          </c:tx>
          <c:spPr>
            <a:ln>
              <a:noFill/>
              <a:prstDash val="solid"/>
            </a:ln>
          </c:spPr>
          <c:invertIfNegative val="0"/>
          <c:dLbls>
            <c:delete val="1"/>
          </c:dLbls>
          <c:cat>
            <c:strRef>
              <c:f>'[quarter_variance_market_rent.xlsx]Quarter Variance'!$A$2:$A$6</c:f>
              <c:strCache>
                <c:ptCount val="5"/>
                <c:pt idx="0">
                  <c:v>LA CBD</c:v>
                </c:pt>
                <c:pt idx="1">
                  <c:v>West LA</c:v>
                </c:pt>
                <c:pt idx="2">
                  <c:v>El Segundo</c:v>
                </c:pt>
                <c:pt idx="3">
                  <c:v>Tri-Cities</c:v>
                </c:pt>
                <c:pt idx="4">
                  <c:v>Hollywood</c:v>
                </c:pt>
              </c:strCache>
            </c:strRef>
          </c:cat>
          <c:val>
            <c:numRef>
              <c:f>'[quarter_variance_market_rent.xlsx]Quarter Variance'!$B$2:$B$6</c:f>
              <c:numCache>
                <c:formatCode>General</c:formatCode>
                <c:ptCount val="5"/>
                <c:pt idx="0">
                  <c:v>24106280</c:v>
                </c:pt>
                <c:pt idx="1">
                  <c:v>46590080</c:v>
                </c:pt>
                <c:pt idx="2">
                  <c:v>8057290</c:v>
                </c:pt>
                <c:pt idx="3">
                  <c:v>20931456</c:v>
                </c:pt>
                <c:pt idx="4">
                  <c:v>7181863</c:v>
                </c:pt>
              </c:numCache>
            </c:numRef>
          </c:val>
        </c:ser>
        <c:ser>
          <c:idx val="1"/>
          <c:order val="1"/>
          <c:tx>
            <c:strRef>
              <c:f>'[quarter_variance_market_rent.xlsx]Quarter Variance'!$C$1</c:f>
              <c:strCache>
                <c:ptCount val="1"/>
                <c:pt idx="0">
                  <c:v>Market Size Q4 (SF)</c:v>
                </c:pt>
              </c:strCache>
            </c:strRef>
          </c:tx>
          <c:spPr>
            <a:ln>
              <a:noFill/>
              <a:prstDash val="solid"/>
            </a:ln>
          </c:spPr>
          <c:invertIfNegative val="0"/>
          <c:dLbls>
            <c:delete val="1"/>
          </c:dLbls>
          <c:cat>
            <c:strRef>
              <c:f>'[quarter_variance_market_rent.xlsx]Quarter Variance'!$A$2:$A$6</c:f>
              <c:strCache>
                <c:ptCount val="5"/>
                <c:pt idx="0">
                  <c:v>LA CBD</c:v>
                </c:pt>
                <c:pt idx="1">
                  <c:v>West LA</c:v>
                </c:pt>
                <c:pt idx="2">
                  <c:v>El Segundo</c:v>
                </c:pt>
                <c:pt idx="3">
                  <c:v>Tri-Cities</c:v>
                </c:pt>
                <c:pt idx="4">
                  <c:v>Hollywood</c:v>
                </c:pt>
              </c:strCache>
            </c:strRef>
          </c:cat>
          <c:val>
            <c:numRef>
              <c:f>'[quarter_variance_market_rent.xlsx]Quarter Variance'!$C$2:$C$6</c:f>
              <c:numCache>
                <c:formatCode>General</c:formatCode>
                <c:ptCount val="5"/>
                <c:pt idx="0">
                  <c:v>24106280</c:v>
                </c:pt>
                <c:pt idx="1">
                  <c:v>46590080</c:v>
                </c:pt>
                <c:pt idx="2">
                  <c:v>8057290</c:v>
                </c:pt>
                <c:pt idx="3">
                  <c:v>20440998</c:v>
                </c:pt>
                <c:pt idx="4">
                  <c:v>7181863</c:v>
                </c:pt>
              </c:numCache>
            </c:numRef>
          </c:val>
        </c:ser>
        <c:dLbls>
          <c:showLegendKey val="0"/>
          <c:showVal val="0"/>
          <c:showCatName val="0"/>
          <c:showSerName val="0"/>
          <c:showPercent val="0"/>
          <c:showBubbleSize val="0"/>
        </c:dLbls>
        <c:gapWidth val="150"/>
        <c:axId val="10"/>
        <c:axId val="100"/>
      </c:barChart>
      <c:catAx>
        <c:axId val="10"/>
        <c:scaling>
          <c:orientation val="minMax"/>
        </c:scaling>
        <c:delete val="0"/>
        <c:axPos val="b"/>
        <c:title>
          <c:tx>
            <c:rich>
              <a:bodyPr rot="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Submarkets</a:t>
                </a:r>
              </a:p>
            </c:rich>
          </c:tx>
          <c:layout/>
          <c:overlay val="0"/>
        </c:title>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0"/>
        <c:crosses val="autoZero"/>
        <c:auto val="0"/>
        <c:lblAlgn val="ctr"/>
        <c:lblOffset val="100"/>
        <c:noMultiLvlLbl val="0"/>
      </c:catAx>
      <c:valAx>
        <c:axId val="100"/>
        <c:scaling>
          <c:orientation val="minMax"/>
        </c:scaling>
        <c:delete val="0"/>
        <c:axPos val="l"/>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Market Size (SF)</a:t>
                </a:r>
              </a:p>
            </c:rich>
          </c:tx>
          <c:layout/>
          <c:overlay val="0"/>
        </c:title>
        <c:numFmt formatCode="General" sourceLinked="1"/>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
        <c:crosses val="autoZero"/>
        <c:crossBetween val="between"/>
      </c:valAx>
    </c:plotArea>
    <c:legend>
      <c:legendPos val="r"/>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62b08597-758e-4cb6-a6a0-51529da507da}"/>
      </c:ext>
    </c:extLst>
  </c:chart>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1" i="0" u="none" strike="noStrike" kern="1200" baseline="0">
                <a:solidFill>
                  <a:schemeClr val="tx1"/>
                </a:solidFill>
                <a:latin typeface="+mn-lt"/>
                <a:ea typeface="+mn-ea"/>
                <a:cs typeface="+mn-cs"/>
              </a:defRPr>
            </a:pPr>
            <a:r>
              <a:rPr sz="1600"/>
              <a:t>Quarter Variance – Asking Rent (Q3 vs Q4)</a:t>
            </a:r>
            <a:endParaRPr sz="1600"/>
          </a:p>
        </c:rich>
      </c:tx>
      <c:layout/>
      <c:overlay val="0"/>
    </c:title>
    <c:autoTitleDeleted val="0"/>
    <c:plotArea>
      <c:layout/>
      <c:barChart>
        <c:barDir val="col"/>
        <c:grouping val="clustered"/>
        <c:varyColors val="0"/>
        <c:ser>
          <c:idx val="0"/>
          <c:order val="0"/>
          <c:tx>
            <c:strRef>
              <c:f>'[quarter_variance_market_rent.xlsx]Quarter Variance'!$D$1</c:f>
              <c:strCache>
                <c:ptCount val="1"/>
                <c:pt idx="0">
                  <c:v>Asking Rent Q3 ($/SF)</c:v>
                </c:pt>
              </c:strCache>
            </c:strRef>
          </c:tx>
          <c:spPr>
            <a:ln>
              <a:noFill/>
              <a:prstDash val="solid"/>
            </a:ln>
          </c:spPr>
          <c:invertIfNegative val="0"/>
          <c:dLbls>
            <c:delete val="1"/>
          </c:dLbls>
          <c:cat>
            <c:strRef>
              <c:f>'[quarter_variance_market_rent.xlsx]Quarter Variance'!$A$2:$A$6</c:f>
              <c:strCache>
                <c:ptCount val="5"/>
                <c:pt idx="0">
                  <c:v>LA CBD</c:v>
                </c:pt>
                <c:pt idx="1">
                  <c:v>West LA</c:v>
                </c:pt>
                <c:pt idx="2">
                  <c:v>El Segundo</c:v>
                </c:pt>
                <c:pt idx="3">
                  <c:v>Tri-Cities</c:v>
                </c:pt>
                <c:pt idx="4">
                  <c:v>Hollywood</c:v>
                </c:pt>
              </c:strCache>
            </c:strRef>
          </c:cat>
          <c:val>
            <c:numRef>
              <c:f>'[quarter_variance_market_rent.xlsx]Quarter Variance'!$D$2:$D$6</c:f>
              <c:numCache>
                <c:formatCode>General</c:formatCode>
                <c:ptCount val="5"/>
                <c:pt idx="0">
                  <c:v>29</c:v>
                </c:pt>
                <c:pt idx="1">
                  <c:v>52</c:v>
                </c:pt>
                <c:pt idx="2">
                  <c:v>41.5</c:v>
                </c:pt>
                <c:pt idx="3">
                  <c:v>56.5</c:v>
                </c:pt>
                <c:pt idx="4">
                  <c:v>34.5</c:v>
                </c:pt>
              </c:numCache>
            </c:numRef>
          </c:val>
        </c:ser>
        <c:ser>
          <c:idx val="1"/>
          <c:order val="1"/>
          <c:tx>
            <c:strRef>
              <c:f>'[quarter_variance_market_rent.xlsx]Quarter Variance'!$E$1</c:f>
              <c:strCache>
                <c:ptCount val="1"/>
                <c:pt idx="0">
                  <c:v>Asking Rent Q4 ($/SF)</c:v>
                </c:pt>
              </c:strCache>
            </c:strRef>
          </c:tx>
          <c:spPr>
            <a:ln>
              <a:noFill/>
              <a:prstDash val="solid"/>
            </a:ln>
          </c:spPr>
          <c:invertIfNegative val="0"/>
          <c:dLbls>
            <c:delete val="1"/>
          </c:dLbls>
          <c:cat>
            <c:strRef>
              <c:f>'[quarter_variance_market_rent.xlsx]Quarter Variance'!$A$2:$A$6</c:f>
              <c:strCache>
                <c:ptCount val="5"/>
                <c:pt idx="0">
                  <c:v>LA CBD</c:v>
                </c:pt>
                <c:pt idx="1">
                  <c:v>West LA</c:v>
                </c:pt>
                <c:pt idx="2">
                  <c:v>El Segundo</c:v>
                </c:pt>
                <c:pt idx="3">
                  <c:v>Tri-Cities</c:v>
                </c:pt>
                <c:pt idx="4">
                  <c:v>Hollywood</c:v>
                </c:pt>
              </c:strCache>
            </c:strRef>
          </c:cat>
          <c:val>
            <c:numRef>
              <c:f>'[quarter_variance_market_rent.xlsx]Quarter Variance'!$E$2:$E$6</c:f>
              <c:numCache>
                <c:formatCode>General</c:formatCode>
                <c:ptCount val="5"/>
                <c:pt idx="0">
                  <c:v>29</c:v>
                </c:pt>
                <c:pt idx="1">
                  <c:v>52.25</c:v>
                </c:pt>
                <c:pt idx="2">
                  <c:v>36.25</c:v>
                </c:pt>
                <c:pt idx="3">
                  <c:v>45.5</c:v>
                </c:pt>
                <c:pt idx="4">
                  <c:v>31.25</c:v>
                </c:pt>
              </c:numCache>
            </c:numRef>
          </c:val>
        </c:ser>
        <c:dLbls>
          <c:showLegendKey val="0"/>
          <c:showVal val="0"/>
          <c:showCatName val="0"/>
          <c:showSerName val="0"/>
          <c:showPercent val="0"/>
          <c:showBubbleSize val="0"/>
        </c:dLbls>
        <c:gapWidth val="150"/>
        <c:axId val="10"/>
        <c:axId val="100"/>
      </c:barChart>
      <c:catAx>
        <c:axId val="10"/>
        <c:scaling>
          <c:orientation val="minMax"/>
        </c:scaling>
        <c:delete val="0"/>
        <c:axPos val="b"/>
        <c:title>
          <c:tx>
            <c:rich>
              <a:bodyPr rot="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Submarkets</a:t>
                </a:r>
              </a:p>
            </c:rich>
          </c:tx>
          <c:layout/>
          <c:overlay val="0"/>
        </c:title>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0"/>
        <c:crosses val="autoZero"/>
        <c:auto val="0"/>
        <c:lblAlgn val="ctr"/>
        <c:lblOffset val="100"/>
        <c:noMultiLvlLbl val="0"/>
      </c:catAx>
      <c:valAx>
        <c:axId val="100"/>
        <c:scaling>
          <c:orientation val="minMax"/>
        </c:scaling>
        <c:delete val="0"/>
        <c:axPos val="l"/>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Asking Rent ($/SF)</a:t>
                </a:r>
              </a:p>
            </c:rich>
          </c:tx>
          <c:layout/>
          <c:overlay val="0"/>
        </c:title>
        <c:numFmt formatCode="General" sourceLinked="1"/>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
        <c:crosses val="autoZero"/>
        <c:crossBetween val="between"/>
      </c:valAx>
    </c:plotArea>
    <c:legend>
      <c:legendPos val="r"/>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618f4230-c639-4be7-82f8-3b1fcd83294e}"/>
      </c:ext>
    </c:extLst>
  </c:chart>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1" i="0" u="none" strike="noStrike" kern="1200" baseline="0">
                <a:solidFill>
                  <a:schemeClr val="tx1"/>
                </a:solidFill>
                <a:latin typeface="+mn-lt"/>
                <a:ea typeface="+mn-ea"/>
                <a:cs typeface="+mn-cs"/>
              </a:defRPr>
            </a:pPr>
            <a:r>
              <a:t>Market Metrics Comparison (Q4 2023)</a:t>
            </a:r>
          </a:p>
        </c:rich>
      </c:tx>
      <c:layout>
        <c:manualLayout>
          <c:xMode val="edge"/>
          <c:yMode val="edge"/>
          <c:x val="0.124590807908865"/>
          <c:y val="0.00745712155108128"/>
        </c:manualLayout>
      </c:layout>
      <c:overlay val="0"/>
    </c:title>
    <c:autoTitleDeleted val="0"/>
    <c:plotArea>
      <c:layout/>
      <c:barChart>
        <c:barDir val="col"/>
        <c:grouping val="clustered"/>
        <c:varyColors val="0"/>
        <c:ser>
          <c:idx val="0"/>
          <c:order val="0"/>
          <c:tx>
            <c:strRef>
              <c:f>'[market_metrics_q4_with_chart.xlsx]Market Metrics'!$B$1</c:f>
              <c:strCache>
                <c:ptCount val="1"/>
                <c:pt idx="0">
                  <c:v>Market Size (SF, Q4)</c:v>
                </c:pt>
              </c:strCache>
            </c:strRef>
          </c:tx>
          <c:spPr>
            <a:ln>
              <a:noFill/>
              <a:prstDash val="solid"/>
            </a:ln>
          </c:spPr>
          <c:invertIfNegative val="0"/>
          <c:dLbls>
            <c:delete val="1"/>
          </c:dLbls>
          <c:cat>
            <c:strRef>
              <c:f>'[market_metrics_q4_with_chart.xlsx]Market Metrics'!$A$2:$A$6</c:f>
              <c:strCache>
                <c:ptCount val="5"/>
                <c:pt idx="0">
                  <c:v>LA CBD</c:v>
                </c:pt>
                <c:pt idx="1">
                  <c:v>West LA</c:v>
                </c:pt>
                <c:pt idx="2">
                  <c:v>El Segundo</c:v>
                </c:pt>
                <c:pt idx="3">
                  <c:v>Tri-Cities</c:v>
                </c:pt>
                <c:pt idx="4">
                  <c:v>Hollywood</c:v>
                </c:pt>
              </c:strCache>
            </c:strRef>
          </c:cat>
          <c:val>
            <c:numRef>
              <c:f>'[market_metrics_q4_with_chart.xlsx]Market Metrics'!$B$2:$B$6</c:f>
              <c:numCache>
                <c:formatCode>General</c:formatCode>
                <c:ptCount val="5"/>
                <c:pt idx="0">
                  <c:v>24106280</c:v>
                </c:pt>
                <c:pt idx="1">
                  <c:v>46590080</c:v>
                </c:pt>
                <c:pt idx="2">
                  <c:v>8057290</c:v>
                </c:pt>
                <c:pt idx="3">
                  <c:v>20440998</c:v>
                </c:pt>
                <c:pt idx="4">
                  <c:v>7181863</c:v>
                </c:pt>
              </c:numCache>
            </c:numRef>
          </c:val>
        </c:ser>
        <c:ser>
          <c:idx val="1"/>
          <c:order val="1"/>
          <c:tx>
            <c:strRef>
              <c:f>'[market_metrics_q4_with_chart.xlsx]Market Metrics'!$C$1</c:f>
              <c:strCache>
                <c:ptCount val="1"/>
                <c:pt idx="0">
                  <c:v>Vacancy % (Q4)</c:v>
                </c:pt>
              </c:strCache>
            </c:strRef>
          </c:tx>
          <c:spPr>
            <a:ln>
              <a:noFill/>
              <a:prstDash val="solid"/>
            </a:ln>
          </c:spPr>
          <c:invertIfNegative val="0"/>
          <c:dLbls>
            <c:delete val="1"/>
          </c:dLbls>
          <c:cat>
            <c:strRef>
              <c:f>'[market_metrics_q4_with_chart.xlsx]Market Metrics'!$A$2:$A$6</c:f>
              <c:strCache>
                <c:ptCount val="5"/>
                <c:pt idx="0">
                  <c:v>LA CBD</c:v>
                </c:pt>
                <c:pt idx="1">
                  <c:v>West LA</c:v>
                </c:pt>
                <c:pt idx="2">
                  <c:v>El Segundo</c:v>
                </c:pt>
                <c:pt idx="3">
                  <c:v>Tri-Cities</c:v>
                </c:pt>
                <c:pt idx="4">
                  <c:v>Hollywood</c:v>
                </c:pt>
              </c:strCache>
            </c:strRef>
          </c:cat>
          <c:val>
            <c:numRef>
              <c:f>'[market_metrics_q4_with_chart.xlsx]Market Metrics'!$C$2:$C$6</c:f>
              <c:numCache>
                <c:formatCode>General</c:formatCode>
                <c:ptCount val="5"/>
                <c:pt idx="0">
                  <c:v>25.3</c:v>
                </c:pt>
                <c:pt idx="1">
                  <c:v>27.4</c:v>
                </c:pt>
                <c:pt idx="2">
                  <c:v>27.6</c:v>
                </c:pt>
                <c:pt idx="3">
                  <c:v>22.7</c:v>
                </c:pt>
                <c:pt idx="4">
                  <c:v>28.5</c:v>
                </c:pt>
              </c:numCache>
            </c:numRef>
          </c:val>
        </c:ser>
        <c:ser>
          <c:idx val="2"/>
          <c:order val="2"/>
          <c:tx>
            <c:strRef>
              <c:f>'[market_metrics_q4_with_chart.xlsx]Market Metrics'!$D$1</c:f>
              <c:strCache>
                <c:ptCount val="1"/>
                <c:pt idx="0">
                  <c:v>Asking Rent NNN ($/SF, Q4)</c:v>
                </c:pt>
              </c:strCache>
            </c:strRef>
          </c:tx>
          <c:spPr>
            <a:ln>
              <a:noFill/>
              <a:prstDash val="solid"/>
            </a:ln>
          </c:spPr>
          <c:invertIfNegative val="0"/>
          <c:dLbls>
            <c:delete val="1"/>
          </c:dLbls>
          <c:cat>
            <c:strRef>
              <c:f>'[market_metrics_q4_with_chart.xlsx]Market Metrics'!$A$2:$A$6</c:f>
              <c:strCache>
                <c:ptCount val="5"/>
                <c:pt idx="0">
                  <c:v>LA CBD</c:v>
                </c:pt>
                <c:pt idx="1">
                  <c:v>West LA</c:v>
                </c:pt>
                <c:pt idx="2">
                  <c:v>El Segundo</c:v>
                </c:pt>
                <c:pt idx="3">
                  <c:v>Tri-Cities</c:v>
                </c:pt>
                <c:pt idx="4">
                  <c:v>Hollywood</c:v>
                </c:pt>
              </c:strCache>
            </c:strRef>
          </c:cat>
          <c:val>
            <c:numRef>
              <c:f>'[market_metrics_q4_with_chart.xlsx]Market Metrics'!$D$2:$D$6</c:f>
              <c:numCache>
                <c:formatCode>General</c:formatCode>
                <c:ptCount val="5"/>
                <c:pt idx="0">
                  <c:v>29</c:v>
                </c:pt>
                <c:pt idx="1">
                  <c:v>52.25</c:v>
                </c:pt>
                <c:pt idx="2">
                  <c:v>36.25</c:v>
                </c:pt>
                <c:pt idx="3">
                  <c:v>45.5</c:v>
                </c:pt>
                <c:pt idx="4">
                  <c:v>31.25</c:v>
                </c:pt>
              </c:numCache>
            </c:numRef>
          </c:val>
        </c:ser>
        <c:ser>
          <c:idx val="3"/>
          <c:order val="3"/>
          <c:tx>
            <c:strRef>
              <c:f>'[market_metrics_q4_with_chart.xlsx]Market Metrics'!$E$1</c:f>
              <c:strCache>
                <c:ptCount val="1"/>
                <c:pt idx="0">
                  <c:v>Net Absorption (SF, Q4)</c:v>
                </c:pt>
              </c:strCache>
            </c:strRef>
          </c:tx>
          <c:spPr>
            <a:ln>
              <a:noFill/>
              <a:prstDash val="solid"/>
            </a:ln>
          </c:spPr>
          <c:invertIfNegative val="0"/>
          <c:dLbls>
            <c:delete val="1"/>
          </c:dLbls>
          <c:cat>
            <c:strRef>
              <c:f>'[market_metrics_q4_with_chart.xlsx]Market Metrics'!$A$2:$A$6</c:f>
              <c:strCache>
                <c:ptCount val="5"/>
                <c:pt idx="0">
                  <c:v>LA CBD</c:v>
                </c:pt>
                <c:pt idx="1">
                  <c:v>West LA</c:v>
                </c:pt>
                <c:pt idx="2">
                  <c:v>El Segundo</c:v>
                </c:pt>
                <c:pt idx="3">
                  <c:v>Tri-Cities</c:v>
                </c:pt>
                <c:pt idx="4">
                  <c:v>Hollywood</c:v>
                </c:pt>
              </c:strCache>
            </c:strRef>
          </c:cat>
          <c:val>
            <c:numRef>
              <c:f>'[market_metrics_q4_with_chart.xlsx]Market Metrics'!$E$2:$E$6</c:f>
              <c:numCache>
                <c:formatCode>General</c:formatCode>
                <c:ptCount val="5"/>
                <c:pt idx="0">
                  <c:v>-686108</c:v>
                </c:pt>
                <c:pt idx="1">
                  <c:v>-1787944</c:v>
                </c:pt>
                <c:pt idx="2">
                  <c:v>-163510</c:v>
                </c:pt>
                <c:pt idx="3">
                  <c:v>268209</c:v>
                </c:pt>
                <c:pt idx="4">
                  <c:v>-191424</c:v>
                </c:pt>
              </c:numCache>
            </c:numRef>
          </c:val>
        </c:ser>
        <c:dLbls>
          <c:showLegendKey val="0"/>
          <c:showVal val="0"/>
          <c:showCatName val="0"/>
          <c:showSerName val="0"/>
          <c:showPercent val="0"/>
          <c:showBubbleSize val="0"/>
        </c:dLbls>
        <c:gapWidth val="150"/>
        <c:axId val="10"/>
        <c:axId val="100"/>
      </c:barChart>
      <c:catAx>
        <c:axId val="10"/>
        <c:scaling>
          <c:orientation val="minMax"/>
        </c:scaling>
        <c:delete val="0"/>
        <c:axPos val="b"/>
        <c:title>
          <c:tx>
            <c:rich>
              <a:bodyPr rot="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Submarkets</a:t>
                </a:r>
              </a:p>
            </c:rich>
          </c:tx>
          <c:layout/>
          <c:overlay val="0"/>
        </c:title>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0"/>
        <c:crosses val="autoZero"/>
        <c:auto val="0"/>
        <c:lblAlgn val="ctr"/>
        <c:lblOffset val="100"/>
        <c:noMultiLvlLbl val="0"/>
      </c:catAx>
      <c:valAx>
        <c:axId val="100"/>
        <c:scaling>
          <c:orientation val="minMax"/>
        </c:scaling>
        <c:delete val="0"/>
        <c:axPos val="l"/>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t>Values</a:t>
                </a:r>
              </a:p>
            </c:rich>
          </c:tx>
          <c:layout/>
          <c:overlay val="0"/>
        </c:title>
        <c:numFmt formatCode="General" sourceLinked="1"/>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10"/>
        <c:crosses val="autoZero"/>
        <c:crossBetween val="between"/>
      </c:valAx>
    </c:plotArea>
    <c:legend>
      <c:legendPos val="r"/>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de1ed608-bc22-411a-9a16-0f6d0e4c9e81}"/>
      </c:ext>
    </c:extLst>
  </c:chart>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171450" indent="-171450">
              <a:buFont typeface="Arial" panose="020B0704020202020204" pitchFamily="34" charset="0"/>
              <a:buChar char="•"/>
            </a:pPr>
            <a:r>
              <a:rPr lang="en-US"/>
              <a:t>Market size is the total available inventory includes vacant plus the occupied space. </a:t>
            </a:r>
            <a:endParaRPr lang="en-US"/>
          </a:p>
          <a:p>
            <a:pPr marL="171450" indent="-171450">
              <a:buFont typeface="Arial" panose="020B0704020202020204" pitchFamily="34" charset="0"/>
              <a:buChar char="•"/>
            </a:pPr>
            <a:r>
              <a:rPr lang="en-US"/>
              <a:t>Vacant Space is the amount of unoccupied or available commercial real estate space measured in square feet (SF) for a given quarter.</a:t>
            </a:r>
            <a:endParaRPr lang="en-US"/>
          </a:p>
          <a:p>
            <a:pPr marL="171450" indent="-171450">
              <a:buFont typeface="Arial" panose="020B0704020202020204" pitchFamily="34" charset="0"/>
              <a:buChar char="•"/>
            </a:pPr>
            <a:r>
              <a:rPr lang="en-US"/>
              <a:t>Overall Vacancy % is the portion of the total market size (SF) that is empty at the end of a quarter and measured as the ratio of Vacant space((SF) to the Market size (SF).</a:t>
            </a:r>
            <a:endParaRPr lang="en-US"/>
          </a:p>
          <a:p>
            <a:pPr marL="171450" indent="-171450">
              <a:buFont typeface="Arial" panose="020B0704020202020204" pitchFamily="34" charset="0"/>
              <a:buChar char="•"/>
            </a:pPr>
            <a:r>
              <a:rPr lang="en-US"/>
              <a:t>Asking rent NNN ($/Sf) is the rent landlords are advising per square foot, on a triple-net (NNN) lease basis, which means the tenant pays the Base Rent (in $/sf monthly or yearly) plus the operating expenses including property taxes, insurance and maintenance).</a:t>
            </a:r>
            <a:endParaRPr lang="en-US"/>
          </a:p>
          <a:p>
            <a:pPr marL="171450" indent="-171450">
              <a:buFont typeface="Arial" panose="020B0704020202020204" pitchFamily="34" charset="0"/>
              <a:buChar char="•"/>
            </a:pPr>
            <a:r>
              <a:rPr lang="en-US"/>
              <a:t>Net Absorbtion is the difference between Space occupied and the Sapce vacant from year to date (YTD) which means from the start uptil the end of reporting date.</a:t>
            </a:r>
            <a:endParaRPr lang="en-US"/>
          </a:p>
          <a:p>
            <a:pPr marL="171450" indent="-171450">
              <a:buFont typeface="Arial" panose="020B0704020202020204" pitchFamily="34" charset="0"/>
              <a:buChar char="•"/>
            </a:pPr>
            <a:r>
              <a:rPr lang="en-US"/>
              <a:t>Under Construction is the total amount of commercial real estate (Sf) that is physically being bulit but not yet completed as of the reporting date and once it is completed it moves from under construction into “Market Size” inventory.</a:t>
            </a:r>
            <a:endParaRPr lang="en-US"/>
          </a:p>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a:p>
            <a:endParaRPr lang="en-US"/>
          </a:p>
          <a:p>
            <a:r>
              <a:rPr lang="en-US"/>
              <a:t>The Verticla axis reflects the Square feet (SF) and horizontal axis represents the Market Metrics/Categories.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fld id="{5BCAD085-E8A6-8845-BD4E-CB4CCA059FC4}" type="datetimeFigureOut">
              <a:rPr lang="en-US" smtClean="0"/>
            </a:fld>
            <a:endParaRPr lang="en-US"/>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7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chart" Target="../charts/chart5.xml"/><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ctrTitle"/>
          </p:nvPr>
        </p:nvSpPr>
        <p:spPr>
          <a:xfrm>
            <a:off x="685800" y="1353185"/>
            <a:ext cx="7772400" cy="2247265"/>
          </a:xfrm>
        </p:spPr>
        <p:txBody>
          <a:bodyPr/>
          <a:lstStyle/>
          <a:p>
            <a:r>
              <a:rPr lang="en-US" sz="4000">
                <a:latin typeface="Times New Roman Regular" panose="02020603050405020304" charset="0"/>
                <a:cs typeface="Times New Roman Regular" panose="02020603050405020304" charset="0"/>
              </a:rPr>
              <a:t> </a:t>
            </a:r>
            <a:br>
              <a:rPr lang="en-US" sz="4000">
                <a:latin typeface="Times New Roman Regular" panose="02020603050405020304" charset="0"/>
                <a:cs typeface="Times New Roman Regular" panose="02020603050405020304" charset="0"/>
              </a:rPr>
            </a:br>
            <a:br>
              <a:rPr lang="en-US" sz="4000">
                <a:latin typeface="Times New Roman Regular" panose="02020603050405020304" charset="0"/>
                <a:cs typeface="Times New Roman Regular" panose="02020603050405020304" charset="0"/>
              </a:rPr>
            </a:br>
            <a:r>
              <a:rPr lang="en-US" sz="4000">
                <a:latin typeface="Times New Roman Regular" panose="02020603050405020304" charset="0"/>
                <a:cs typeface="Times New Roman Regular" panose="02020603050405020304" charset="0"/>
              </a:rPr>
              <a:t>Presentation of Fundamental </a:t>
            </a:r>
            <a:r>
              <a:rPr sz="4000">
                <a:latin typeface="Times New Roman Regular" panose="02020603050405020304" charset="0"/>
                <a:cs typeface="Times New Roman Regular" panose="02020603050405020304" charset="0"/>
              </a:rPr>
              <a:t>Market Metric</a:t>
            </a:r>
            <a:r>
              <a:rPr lang="en-US" sz="4000">
                <a:latin typeface="Times New Roman Regular" panose="02020603050405020304" charset="0"/>
                <a:cs typeface="Times New Roman Regular" panose="02020603050405020304" charset="0"/>
              </a:rPr>
              <a:t>s </a:t>
            </a:r>
            <a:br>
              <a:rPr lang="en-US" sz="4000">
                <a:latin typeface="Times New Roman Regular" panose="02020603050405020304" charset="0"/>
                <a:cs typeface="Times New Roman Regular" panose="02020603050405020304" charset="0"/>
              </a:rPr>
            </a:br>
            <a:r>
              <a:rPr sz="4000">
                <a:latin typeface="Times New Roman Regular" panose="02020603050405020304" charset="0"/>
                <a:cs typeface="Times New Roman Regular" panose="02020603050405020304" charset="0"/>
              </a:rPr>
              <a:t> </a:t>
            </a:r>
            <a:br>
              <a:rPr sz="4000">
                <a:latin typeface="Times New Roman Regular" panose="02020603050405020304" charset="0"/>
                <a:cs typeface="Times New Roman Regular" panose="02020603050405020304" charset="0"/>
              </a:rPr>
            </a:br>
            <a:endParaRPr sz="320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823595" y="3127375"/>
            <a:ext cx="7177405" cy="2604135"/>
          </a:xfrm>
        </p:spPr>
        <p:txBody>
          <a:bodyPr/>
          <a:lstStyle/>
          <a:p>
            <a:endParaRPr>
              <a:solidFill>
                <a:schemeClr val="tx1"/>
              </a:solidFill>
              <a:latin typeface="Times New Roman Regular" panose="02020603050405020304" charset="0"/>
              <a:cs typeface="Times New Roman Regular" panose="02020603050405020304" charset="0"/>
            </a:endParaRPr>
          </a:p>
          <a:p>
            <a:r>
              <a:rPr lang="en-US" sz="3200">
                <a:latin typeface="Times New Roman" panose="02020603050405020304" charset="0"/>
                <a:cs typeface="Times New Roman" panose="02020603050405020304" charset="0"/>
                <a:sym typeface="+mn-ea"/>
              </a:rPr>
              <a:t>Sub Markets of </a:t>
            </a:r>
            <a:r>
              <a:rPr sz="3200">
                <a:latin typeface="Times New Roman" panose="02020603050405020304" charset="0"/>
                <a:cs typeface="Times New Roman" panose="02020603050405020304" charset="0"/>
                <a:sym typeface="+mn-ea"/>
              </a:rPr>
              <a:t>L</a:t>
            </a:r>
            <a:r>
              <a:rPr lang="en-US" sz="3200">
                <a:latin typeface="Times New Roman" panose="02020603050405020304" charset="0"/>
                <a:cs typeface="Times New Roman" panose="02020603050405020304" charset="0"/>
                <a:sym typeface="+mn-ea"/>
              </a:rPr>
              <a:t>os </a:t>
            </a:r>
            <a:r>
              <a:rPr sz="3200">
                <a:latin typeface="Times New Roman" panose="02020603050405020304" charset="0"/>
                <a:cs typeface="Times New Roman" panose="02020603050405020304" charset="0"/>
                <a:sym typeface="+mn-ea"/>
              </a:rPr>
              <a:t>A</a:t>
            </a:r>
            <a:r>
              <a:rPr lang="en-US" sz="3200">
                <a:latin typeface="Times New Roman" panose="02020603050405020304" charset="0"/>
                <a:cs typeface="Times New Roman" panose="02020603050405020304" charset="0"/>
                <a:sym typeface="+mn-ea"/>
              </a:rPr>
              <a:t>ngeles</a:t>
            </a:r>
            <a:r>
              <a:rPr sz="3200">
                <a:latin typeface="Times New Roman" panose="02020603050405020304" charset="0"/>
                <a:cs typeface="Times New Roman" panose="02020603050405020304" charset="0"/>
                <a:sym typeface="+mn-ea"/>
              </a:rPr>
              <a:t> </a:t>
            </a:r>
            <a:r>
              <a:rPr lang="en-US" sz="3200">
                <a:latin typeface="Times New Roman" panose="02020603050405020304" charset="0"/>
                <a:cs typeface="Times New Roman" panose="02020603050405020304" charset="0"/>
                <a:sym typeface="+mn-ea"/>
              </a:rPr>
              <a:t>Region </a:t>
            </a:r>
            <a:br>
              <a:rPr lang="en-US" sz="3200">
                <a:latin typeface="Times New Roman" panose="02020603050405020304" charset="0"/>
                <a:cs typeface="Times New Roman" panose="02020603050405020304" charset="0"/>
                <a:sym typeface="+mn-ea"/>
              </a:rPr>
            </a:br>
            <a:r>
              <a:rPr lang="en-US" sz="3200">
                <a:solidFill>
                  <a:schemeClr val="tx1"/>
                </a:solidFill>
                <a:latin typeface="Times New Roman Regular" panose="02020603050405020304" charset="0"/>
                <a:cs typeface="Times New Roman Regular" panose="02020603050405020304" charset="0"/>
              </a:rPr>
              <a:t> </a:t>
            </a:r>
            <a:r>
              <a:rPr sz="3200">
                <a:solidFill>
                  <a:schemeClr val="tx1"/>
                </a:solidFill>
                <a:latin typeface="Times New Roman Regular" panose="02020603050405020304" charset="0"/>
                <a:cs typeface="Times New Roman Regular" panose="02020603050405020304" charset="0"/>
              </a:rPr>
              <a:t>Quarter-over-Quarter Variance</a:t>
            </a:r>
            <a:r>
              <a:rPr lang="en-US" sz="3200">
                <a:solidFill>
                  <a:schemeClr val="tx1"/>
                </a:solidFill>
                <a:latin typeface="Times New Roman Regular" panose="02020603050405020304" charset="0"/>
                <a:cs typeface="Times New Roman Regular" panose="02020603050405020304" charset="0"/>
              </a:rPr>
              <a:t> </a:t>
            </a:r>
            <a:r>
              <a:rPr sz="3200">
                <a:solidFill>
                  <a:schemeClr val="tx1"/>
                </a:solidFill>
                <a:latin typeface="Times New Roman Regular" panose="02020603050405020304" charset="0"/>
                <a:cs typeface="Times New Roman Regular" panose="02020603050405020304" charset="0"/>
              </a:rPr>
              <a:t>Analysis</a:t>
            </a:r>
            <a:endParaRPr sz="3200">
              <a:solidFill>
                <a:schemeClr val="tx1"/>
              </a:solidFill>
              <a:latin typeface="Times New Roman Regular" panose="02020603050405020304" charset="0"/>
              <a:cs typeface="Times New Roman Regular" panose="02020603050405020304" charset="0"/>
            </a:endParaRPr>
          </a:p>
          <a:p>
            <a:endParaRPr lang="en-US" sz="2800">
              <a:solidFill>
                <a:schemeClr val="tx1"/>
              </a:solidFill>
              <a:latin typeface="Times New Roman Regular" panose="02020603050405020304" charset="0"/>
              <a:cs typeface="Times New Roman Regular" panose="020206030504050203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lang="en-US" sz="2800">
                <a:latin typeface="Times New Roman Regular" panose="02020603050405020304" charset="0"/>
                <a:cs typeface="Times New Roman Regular" panose="02020603050405020304" charset="0"/>
              </a:rPr>
              <a:t>Key Market Metrics</a:t>
            </a:r>
            <a:endParaRPr lang="en-US" sz="28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000">
                <a:latin typeface="Times New Roman Regular" panose="02020603050405020304" charset="0"/>
                <a:cs typeface="Times New Roman Regular" panose="02020603050405020304" charset="0"/>
                <a:sym typeface="+mn-ea"/>
              </a:rPr>
              <a:t>Market Size (A Inventory)</a:t>
            </a: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000">
                <a:latin typeface="Times New Roman Regular" panose="02020603050405020304" charset="0"/>
                <a:cs typeface="Times New Roman Regular" panose="02020603050405020304" charset="0"/>
                <a:sym typeface="+mn-ea"/>
              </a:rPr>
              <a:t>Vacant Space (SF) Class A (A Overall vacancy SF)</a:t>
            </a: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000">
                <a:latin typeface="Times New Roman Regular" panose="02020603050405020304" charset="0"/>
                <a:cs typeface="Times New Roman Regular" panose="02020603050405020304" charset="0"/>
                <a:sym typeface="+mn-ea"/>
              </a:rPr>
              <a:t>Overall vacancy % Class A</a:t>
            </a: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000">
                <a:latin typeface="Times New Roman Regular" panose="02020603050405020304" charset="0"/>
                <a:cs typeface="Times New Roman Regular" panose="02020603050405020304" charset="0"/>
                <a:sym typeface="+mn-ea"/>
              </a:rPr>
              <a:t>Asking Rent NNN($/Sf) Class A</a:t>
            </a: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000">
                <a:latin typeface="Times New Roman Regular" panose="02020603050405020304" charset="0"/>
                <a:cs typeface="Times New Roman Regular" panose="02020603050405020304" charset="0"/>
                <a:sym typeface="+mn-ea"/>
              </a:rPr>
              <a:t>023 YTD Net Absorption (SF)</a:t>
            </a:r>
            <a:endParaRPr lang="en-US" sz="2000">
              <a:latin typeface="Times New Roman Regular" panose="02020603050405020304" charset="0"/>
              <a:cs typeface="Times New Roman Regular" panose="02020603050405020304" charset="0"/>
              <a:sym typeface="+mn-ea"/>
            </a:endParaRPr>
          </a:p>
          <a:p>
            <a:pPr marL="0" indent="0">
              <a:buFont typeface="Wingdings" panose="05000000000000000000" charset="0"/>
              <a:buNone/>
            </a:pPr>
            <a:endParaRPr lang="en-US" sz="20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000">
                <a:latin typeface="Times New Roman Regular" panose="02020603050405020304" charset="0"/>
                <a:cs typeface="Times New Roman Regular" panose="02020603050405020304" charset="0"/>
                <a:sym typeface="+mn-ea"/>
              </a:rPr>
              <a:t>Under Construction (SF)</a:t>
            </a:r>
            <a:endParaRPr sz="2000">
              <a:latin typeface="Times New Roman Regular" panose="02020603050405020304" charset="0"/>
              <a:cs typeface="Times New Roman Regular" panose="02020603050405020304" charset="0"/>
              <a:sym typeface="+mn-ea"/>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graphicFrame>
        <p:nvGraphicFramePr>
          <p:cNvPr id="4" name="Content Placeholder 3"/>
          <p:cNvGraphicFramePr/>
          <p:nvPr>
            <p:ph idx="1"/>
          </p:nvPr>
        </p:nvGraphicFramePr>
        <p:xfrm>
          <a:off x="239395" y="117475"/>
          <a:ext cx="8613140" cy="674116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611505"/>
            <a:ext cx="8229600" cy="5514975"/>
          </a:xfrm>
        </p:spPr>
        <p:txBody>
          <a:bodyPr/>
          <a:lstStyle/>
          <a:p>
            <a:pPr marL="0" indent="0" algn="ctr">
              <a:buFont typeface="Wingdings" panose="05000000000000000000" charset="0"/>
              <a:buNone/>
            </a:pPr>
            <a:r>
              <a:rPr lang="en-US" sz="2400">
                <a:latin typeface="Times New Roman Regular" panose="02020603050405020304" charset="0"/>
                <a:cs typeface="Times New Roman Regular" panose="02020603050405020304" charset="0"/>
                <a:sym typeface="+mn-ea"/>
              </a:rPr>
              <a:t>              </a:t>
            </a:r>
            <a:endParaRPr lang="en-US" sz="2400">
              <a:latin typeface="Times New Roman Regular" panose="02020603050405020304" charset="0"/>
              <a:cs typeface="Times New Roman Regular" panose="02020603050405020304" charset="0"/>
              <a:sym typeface="+mn-ea"/>
            </a:endParaRPr>
          </a:p>
          <a:p>
            <a:pPr marL="0" indent="0" algn="ctr">
              <a:buFont typeface="Wingdings" panose="05000000000000000000" charset="0"/>
              <a:buNone/>
            </a:pPr>
            <a:r>
              <a:rPr lang="en-US" sz="2400">
                <a:latin typeface="Times New Roman Regular" panose="02020603050405020304" charset="0"/>
                <a:cs typeface="Times New Roman Regular" panose="02020603050405020304" charset="0"/>
                <a:sym typeface="+mn-ea"/>
              </a:rPr>
              <a:t> </a:t>
            </a:r>
            <a:r>
              <a:rPr lang="en-US" sz="2800">
                <a:latin typeface="Times New Roman Regular" panose="02020603050405020304" charset="0"/>
                <a:cs typeface="Times New Roman Regular" panose="02020603050405020304" charset="0"/>
                <a:sym typeface="+mn-ea"/>
              </a:rPr>
              <a:t>Sub-Markets Metrics Comparison</a:t>
            </a:r>
            <a:endParaRPr lang="en-US" sz="2800">
              <a:latin typeface="Times New Roman Regular" panose="02020603050405020304" charset="0"/>
              <a:cs typeface="Times New Roman Regular" panose="02020603050405020304" charset="0"/>
            </a:endParaRPr>
          </a:p>
          <a:p>
            <a:pPr marL="0" indent="0" algn="ctr">
              <a:buFont typeface="Wingdings" panose="05000000000000000000" charset="0"/>
              <a:buNone/>
            </a:pPr>
            <a:r>
              <a:rPr lang="en-US" altLang="en-US" sz="2400" b="1" u="sng">
                <a:latin typeface="Times New Roman Regular" panose="02020603050405020304" charset="0"/>
                <a:cs typeface="Times New Roman Regular" panose="02020603050405020304" charset="0"/>
              </a:rPr>
              <a:t>WEST LA</a:t>
            </a:r>
            <a:r>
              <a:rPr lang="en-US" altLang="en-US" sz="2400" u="sng">
                <a:latin typeface="Times New Roman Regular" panose="02020603050405020304" charset="0"/>
                <a:cs typeface="Times New Roman Regular" panose="02020603050405020304" charset="0"/>
              </a:rPr>
              <a:t> </a:t>
            </a:r>
            <a:endParaRPr lang="en-US" altLang="en-US" sz="2400">
              <a:latin typeface="Times New Roman Regular" panose="02020603050405020304" charset="0"/>
              <a:cs typeface="Times New Roman Regular" panose="02020603050405020304" charset="0"/>
            </a:endParaRPr>
          </a:p>
          <a:p>
            <a:pPr marL="0" indent="0" algn="ctr">
              <a:buFont typeface="Wingdings" panose="05000000000000000000" charset="0"/>
              <a:buNone/>
            </a:pPr>
            <a:endParaRPr lang="en-US" altLang="en-US" sz="24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en-US" altLang="en-US" sz="2000">
                <a:latin typeface="Times New Roman Regular" panose="02020603050405020304" charset="0"/>
                <a:cs typeface="Times New Roman Regular" panose="02020603050405020304" charset="0"/>
              </a:rPr>
              <a:t>It dominates in size but suffers high vacancy and lowest absorption</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Reason: West LA is the largest market (46.6M SF), but demand has not kept at constant rate with supply.</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Tenants are either downsizing or relocating, leading to negative net absorption (-1.05M SF YTD).</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Vacancy rose despite a small rent increase ($52.00 → $52.25), showing landlords are holding firm on pricing but struggling to fill space.</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sz="2000">
                <a:latin typeface="Times New Roman Regular" panose="02020603050405020304" charset="0"/>
                <a:cs typeface="Times New Roman Regular" panose="02020603050405020304" charset="0"/>
              </a:rPr>
              <a:t>Inference</a:t>
            </a:r>
            <a:r>
              <a:rPr lang="en-US" altLang="en-US" sz="2000">
                <a:latin typeface="Times New Roman Regular" panose="02020603050405020304" charset="0"/>
                <a:cs typeface="Times New Roman Regular" panose="02020603050405020304" charset="0"/>
              </a:rPr>
              <a:t>: Oversupply risk in the largest submarket.</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000">
              <a:latin typeface="Times New Roman Regular" panose="02020603050405020304" charset="0"/>
              <a:cs typeface="Times New Roman Regular"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r>
              <a:rPr lang="en-US" altLang="en-US" sz="2400">
                <a:latin typeface="Times New Roman Regular" panose="02020603050405020304" charset="0"/>
                <a:cs typeface="Times New Roman Regular" panose="02020603050405020304" charset="0"/>
              </a:rPr>
              <a:t>                                           </a:t>
            </a:r>
            <a:r>
              <a:rPr lang="en-US" altLang="en-US" sz="2400" u="sng">
                <a:latin typeface="Times New Roman Regular" panose="02020603050405020304" charset="0"/>
                <a:cs typeface="Times New Roman Regular" panose="02020603050405020304" charset="0"/>
              </a:rPr>
              <a:t>LA CBD </a:t>
            </a:r>
            <a:endParaRPr lang="en-US" altLang="en-US" sz="2400" u="sng">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400" u="sng">
              <a:latin typeface="Times New Roman Regular" panose="02020603050405020304" charset="0"/>
              <a:cs typeface="Times New Roman Regular" panose="02020603050405020304" charset="0"/>
            </a:endParaRPr>
          </a:p>
          <a:p>
            <a:pPr marL="0" indent="0">
              <a:buFont typeface="Wingdings" panose="05000000000000000000" charset="0"/>
              <a:buNone/>
            </a:pPr>
            <a:r>
              <a:rPr lang="en-US" altLang="en-US" sz="2000">
                <a:latin typeface="Times New Roman Regular" panose="02020603050405020304" charset="0"/>
                <a:cs typeface="Times New Roman Regular" panose="02020603050405020304" charset="0"/>
              </a:rPr>
              <a:t>It is stable in size, weak absorption, flat rents</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Reason: LA CBD has a large base (24.1M SF), but vacancy stayed high (25.3%).</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Asking rents flat at $29.00, showing landlords are reluctant to lower pricing despite weak absorption (-703K SF).</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Likely reflects tenant preference for suburban submarkets with lower costs and newer product.</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en-US"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    Inference </a:t>
            </a:r>
            <a:r>
              <a:rPr lang="en-US" altLang="en-US" sz="2000">
                <a:latin typeface="Times New Roman Regular" panose="02020603050405020304" charset="0"/>
                <a:cs typeface="Times New Roman Regular" panose="02020603050405020304" charset="0"/>
              </a:rPr>
              <a:t>: Downtown is stagnant—stable pricing but not absorbing vacant space.</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000">
              <a:latin typeface="Times New Roman Regular" panose="02020603050405020304" charset="0"/>
              <a:cs typeface="Times New Roman Regular"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1082040"/>
            <a:ext cx="8229600" cy="5044440"/>
          </a:xfrm>
        </p:spPr>
        <p:txBody>
          <a:bodyPr/>
          <a:lstStyle/>
          <a:p>
            <a:pPr marL="0" indent="0" algn="just">
              <a:buFont typeface="Wingdings" panose="05000000000000000000" charset="0"/>
              <a:buNone/>
            </a:pPr>
            <a:r>
              <a:rPr lang="en-US" altLang="en-US" sz="2400">
                <a:latin typeface="Times New Roman Regular" panose="02020603050405020304" charset="0"/>
                <a:cs typeface="Times New Roman Regular" panose="02020603050405020304" charset="0"/>
              </a:rPr>
              <a:t>                                           </a:t>
            </a:r>
            <a:r>
              <a:rPr lang="en-US" altLang="en-US" sz="2400" u="sng">
                <a:latin typeface="Times New Roman Regular" panose="02020603050405020304" charset="0"/>
                <a:cs typeface="Times New Roman Regular" panose="02020603050405020304" charset="0"/>
              </a:rPr>
              <a:t>Tri-Cities</a:t>
            </a:r>
            <a:r>
              <a:rPr lang="en-US" altLang="en-US" sz="2400">
                <a:latin typeface="Times New Roman Regular" panose="02020603050405020304" charset="0"/>
                <a:cs typeface="Times New Roman Regular" panose="02020603050405020304" charset="0"/>
              </a:rPr>
              <a:t> </a:t>
            </a:r>
            <a:endParaRPr lang="en-US" altLang="en-US" sz="2400">
              <a:latin typeface="Times New Roman Regular" panose="02020603050405020304" charset="0"/>
              <a:cs typeface="Times New Roman Regular" panose="02020603050405020304" charset="0"/>
            </a:endParaRPr>
          </a:p>
          <a:p>
            <a:pPr marL="0" indent="0" algn="just">
              <a:buFont typeface="Wingdings" panose="05000000000000000000" charset="0"/>
              <a:buNone/>
            </a:pP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en-US" altLang="en-US" sz="2000">
                <a:latin typeface="Times New Roman Regular" panose="02020603050405020304" charset="0"/>
                <a:cs typeface="Times New Roman Regular" panose="02020603050405020304" charset="0"/>
              </a:rPr>
              <a:t>This sub market is the best performer (low vacancy, high rents, positive absorption)</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Reason: Tri-Cities (20.4M SF) absorbed +489K SF YTD, which reduced vacancy slightly.</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Strong demand supports high asking rents ($45.50/SF) even after a decline from Q3 ($56.50 → $45.50).</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Tenants likely value this submarket for its accessibility and business clustering effect.</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sz="2000">
                <a:latin typeface="Times New Roman Regular" panose="02020603050405020304" charset="0"/>
                <a:cs typeface="Times New Roman Regular" panose="02020603050405020304" charset="0"/>
              </a:rPr>
              <a:t>Inference </a:t>
            </a:r>
            <a:r>
              <a:rPr lang="en-US" altLang="en-US" sz="2000">
                <a:latin typeface="Times New Roman Regular" panose="02020603050405020304" charset="0"/>
                <a:cs typeface="Times New Roman Regular" panose="02020603050405020304" charset="0"/>
              </a:rPr>
              <a:t>: A healthy submarket with continued tenant interest despite minor rent correction.</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000">
              <a:latin typeface="Times New Roman Regular" panose="02020603050405020304" charset="0"/>
              <a:cs typeface="Times New Roman Regular"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4" name="Text Box 3"/>
          <p:cNvSpPr txBox="1"/>
          <p:nvPr/>
        </p:nvSpPr>
        <p:spPr>
          <a:xfrm>
            <a:off x="831215" y="1028700"/>
            <a:ext cx="6972935" cy="4686935"/>
          </a:xfrm>
          <a:prstGeom prst="rect">
            <a:avLst/>
          </a:prstGeom>
          <a:noFill/>
        </p:spPr>
        <p:txBody>
          <a:bodyPr wrap="square" rtlCol="0" anchor="t">
            <a:noAutofit/>
          </a:bodyPr>
          <a:p>
            <a:r>
              <a:rPr lang="en-US" altLang="en-US"/>
              <a:t>                                </a:t>
            </a:r>
            <a:r>
              <a:rPr lang="en-US" altLang="en-US" sz="2000" u="sng">
                <a:latin typeface="Times New Roman Regular" panose="02020603050405020304" charset="0"/>
                <a:cs typeface="Times New Roman Regular" panose="02020603050405020304" charset="0"/>
              </a:rPr>
              <a:t>El Segundo/Beach Cities </a:t>
            </a:r>
            <a:endParaRPr lang="en-US" altLang="en-US" sz="2000" u="sng">
              <a:latin typeface="Times New Roman Regular" panose="02020603050405020304" charset="0"/>
              <a:cs typeface="Times New Roman Regular" panose="02020603050405020304" charset="0"/>
            </a:endParaRPr>
          </a:p>
          <a:p>
            <a:endParaRPr lang="en-US" altLang="en-US" sz="2000" u="sng">
              <a:latin typeface="Times New Roman Regular" panose="02020603050405020304" charset="0"/>
              <a:cs typeface="Times New Roman Regular" panose="02020603050405020304" charset="0"/>
            </a:endParaRPr>
          </a:p>
          <a:p>
            <a:pPr algn="just"/>
            <a:r>
              <a:rPr lang="en-US" altLang="en-US">
                <a:latin typeface="Times New Roman Regular" panose="02020603050405020304" charset="0"/>
                <a:cs typeface="Times New Roman Regular" panose="02020603050405020304" charset="0"/>
              </a:rPr>
              <a:t>It is volatile: rising vacancy, slight rent decline</a:t>
            </a:r>
            <a:endParaRPr lang="en-US" altLang="en-US">
              <a:latin typeface="Times New Roman Regular" panose="02020603050405020304" charset="0"/>
              <a:cs typeface="Times New Roman Regular" panose="02020603050405020304" charset="0"/>
            </a:endParaRPr>
          </a:p>
          <a:p>
            <a:pPr algn="just"/>
            <a:endParaRPr lang="en-US" altLang="en-US">
              <a:latin typeface="Times New Roman Regular" panose="02020603050405020304" charset="0"/>
              <a:cs typeface="Times New Roman Regular" panose="02020603050405020304" charset="0"/>
            </a:endParaRPr>
          </a:p>
          <a:p>
            <a:pPr algn="just"/>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Reason: Smaller market (8.05M SF) but volatile demand. Vacancy jumped from 1.93M → 2.22M SF, raising vacancy % to 27.6%.</a:t>
            </a:r>
            <a:endParaRPr lang="en-US" altLang="en-US">
              <a:latin typeface="Times New Roman Regular" panose="02020603050405020304" charset="0"/>
              <a:cs typeface="Times New Roman Regular" panose="02020603050405020304" charset="0"/>
            </a:endParaRPr>
          </a:p>
          <a:p>
            <a:pPr algn="just"/>
            <a:endParaRPr lang="en-US" altLang="en-US">
              <a:latin typeface="Times New Roman Regular" panose="02020603050405020304" charset="0"/>
              <a:cs typeface="Times New Roman Regular" panose="02020603050405020304" charset="0"/>
            </a:endParaRPr>
          </a:p>
          <a:p>
            <a:pPr algn="just"/>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Rent declined slightly ($36.25 → $35.00), signaling landlords adjusting expectations.</a:t>
            </a:r>
            <a:endParaRPr lang="en-US" altLang="en-US">
              <a:latin typeface="Times New Roman Regular" panose="02020603050405020304" charset="0"/>
              <a:cs typeface="Times New Roman Regular" panose="02020603050405020304" charset="0"/>
            </a:endParaRPr>
          </a:p>
          <a:p>
            <a:pPr algn="just"/>
            <a:endParaRPr lang="en-US" altLang="en-US">
              <a:latin typeface="Times New Roman Regular" panose="02020603050405020304" charset="0"/>
              <a:cs typeface="Times New Roman Regular" panose="02020603050405020304" charset="0"/>
            </a:endParaRPr>
          </a:p>
          <a:p>
            <a:pPr algn="just"/>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Despite positive YTD absorption (+149K SF), the Q4 vacancy increase shows late-year tenant move-outs outweighed gains.</a:t>
            </a:r>
            <a:endParaRPr lang="en-US" altLang="en-US">
              <a:latin typeface="Times New Roman Regular" panose="02020603050405020304" charset="0"/>
              <a:cs typeface="Times New Roman Regular" panose="02020603050405020304" charset="0"/>
            </a:endParaRPr>
          </a:p>
          <a:p>
            <a:pPr algn="just"/>
            <a:endParaRPr lang="en-US" altLang="en-US">
              <a:latin typeface="Times New Roman Regular" panose="02020603050405020304" charset="0"/>
              <a:cs typeface="Times New Roman Regular" panose="02020603050405020304" charset="0"/>
            </a:endParaRPr>
          </a:p>
          <a:p>
            <a:pPr algn="just"/>
            <a:r>
              <a:rPr lang="en-US" altLang="en-US">
                <a:latin typeface="Times New Roman Regular" panose="02020603050405020304" charset="0"/>
                <a:cs typeface="Times New Roman Regular" panose="02020603050405020304" charset="0"/>
              </a:rPr>
              <a:t>    </a:t>
            </a:r>
            <a:r>
              <a:rPr lang="en-US" altLang="en-US">
                <a:latin typeface="Times New Roman Regular" panose="02020603050405020304" charset="0"/>
                <a:cs typeface="Times New Roman Regular" panose="02020603050405020304" charset="0"/>
              </a:rPr>
              <a:t>•    Inference : Unstable submarket with swings between leasing gains and tenant exits.</a:t>
            </a:r>
            <a:endParaRPr lang="en-US" altLang="en-US">
              <a:latin typeface="Times New Roman Regular" panose="02020603050405020304" charset="0"/>
              <a:cs typeface="Times New Roman Regular" panose="02020603050405020304" charset="0"/>
            </a:endParaRPr>
          </a:p>
          <a:p>
            <a:endParaRPr lang="en-US">
              <a:latin typeface="Times New Roman Regular" panose="02020603050405020304" charset="0"/>
              <a:cs typeface="Times New Roman Regular"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1082040"/>
            <a:ext cx="8229600" cy="5577840"/>
          </a:xfrm>
        </p:spPr>
        <p:txBody>
          <a:bodyPr/>
          <a:lstStyle/>
          <a:p>
            <a:pPr marL="0" indent="0">
              <a:buFont typeface="Wingdings" panose="05000000000000000000" charset="0"/>
              <a:buNone/>
            </a:pPr>
            <a:r>
              <a:rPr lang="en-US" altLang="en-US" sz="2400">
                <a:latin typeface="Times New Roman Regular" panose="02020603050405020304" charset="0"/>
                <a:cs typeface="Times New Roman Regular" panose="02020603050405020304" charset="0"/>
              </a:rPr>
              <a:t>                               </a:t>
            </a:r>
            <a:r>
              <a:rPr lang="en-US" altLang="en-US" sz="2400" u="sng">
                <a:latin typeface="Times New Roman Regular" panose="02020603050405020304" charset="0"/>
                <a:cs typeface="Times New Roman Regular" panose="02020603050405020304" charset="0"/>
              </a:rPr>
              <a:t>Hollywood/Wilshire</a:t>
            </a:r>
            <a:r>
              <a:rPr lang="en-US" altLang="en-US" sz="2400">
                <a:latin typeface="Times New Roman Regular" panose="02020603050405020304" charset="0"/>
                <a:cs typeface="Times New Roman Regular" panose="02020603050405020304" charset="0"/>
              </a:rPr>
              <a:t> </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4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en-US" altLang="en-US" sz="2000">
                <a:latin typeface="Times New Roman Regular" panose="02020603050405020304" charset="0"/>
                <a:cs typeface="Times New Roman Regular" panose="02020603050405020304" charset="0"/>
              </a:rPr>
              <a:t>This sub market is the weakest submarket (highest vacancy, falling rents)</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Reason: With only 7.1M SF of inventory, Hollywood/Wilshire is the smallest market, but still has 28.6% vacancy (~2M SF empty).</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Rents fell sharply ($34.50 → $31.25), suggesting landlords are cutting rates to attract tenants.</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Net absorption was negative (-197K SF), meaning more space vacated than leased.</a:t>
            </a:r>
            <a:endParaRPr lang="en-US" altLang="en-US" sz="2000">
              <a:latin typeface="Times New Roman Regular" panose="02020603050405020304" charset="0"/>
              <a:cs typeface="Times New Roman Regular" panose="02020603050405020304" charset="0"/>
            </a:endParaRPr>
          </a:p>
          <a:p>
            <a:pPr marL="0" indent="0" algn="just">
              <a:buFont typeface="Wingdings" panose="05000000000000000000" charset="0"/>
              <a:buNone/>
            </a:pPr>
            <a:r>
              <a:rPr lang="" altLang="en-US" sz="2000">
                <a:latin typeface="Times New Roman Regular" panose="02020603050405020304" charset="0"/>
                <a:cs typeface="Times New Roman Regular" panose="02020603050405020304" charset="0"/>
              </a:rPr>
              <a:t>    </a:t>
            </a:r>
            <a:r>
              <a:rPr lang="en-US" altLang="en-US" sz="2000">
                <a:latin typeface="Times New Roman Regular" panose="02020603050405020304" charset="0"/>
                <a:cs typeface="Times New Roman Regular" panose="02020603050405020304" charset="0"/>
              </a:rPr>
              <a:t>•</a:t>
            </a:r>
            <a:r>
              <a:rPr lang="" altLang="en-US" sz="2000">
                <a:latin typeface="Times New Roman Regular" panose="02020603050405020304" charset="0"/>
                <a:cs typeface="Times New Roman Regular" panose="02020603050405020304" charset="0"/>
              </a:rPr>
              <a:t>    </a:t>
            </a:r>
            <a:r>
              <a:rPr lang="en-US" sz="2000">
                <a:latin typeface="Times New Roman Regular" panose="02020603050405020304" charset="0"/>
                <a:cs typeface="Times New Roman Regular" panose="02020603050405020304" charset="0"/>
              </a:rPr>
              <a:t>Inference</a:t>
            </a:r>
            <a:r>
              <a:rPr lang="en-US" altLang="en-US" sz="2000">
                <a:latin typeface="Times New Roman Regular" panose="02020603050405020304" charset="0"/>
                <a:cs typeface="Times New Roman Regular" panose="02020603050405020304" charset="0"/>
              </a:rPr>
              <a:t>: Weak demand and limited tenant interest, underperforming relative to its size.</a:t>
            </a:r>
            <a:endParaRPr lang="en-US" altLang="en-US" sz="20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000">
              <a:latin typeface="Times New Roman Regular" panose="02020603050405020304" charset="0"/>
              <a:cs typeface="Times New Roman Regular"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2800">
                <a:latin typeface="Times New Roman Regular" panose="02020603050405020304" charset="0"/>
                <a:cs typeface="Times New Roman Regular" panose="02020603050405020304" charset="0"/>
              </a:rPr>
              <a:t>Standout Negative Trend – West LA</a:t>
            </a:r>
            <a:endParaRPr sz="28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652905"/>
            <a:ext cx="8229600" cy="4473575"/>
          </a:xfrm>
        </p:spPr>
        <p:txBody>
          <a:bodyPr/>
          <a:lstStyle/>
          <a:p>
            <a:pPr>
              <a:buFont typeface="Wingdings" panose="05000000000000000000" charset="0"/>
              <a:buChar char=""/>
            </a:pPr>
            <a:r>
              <a:rPr sz="2000">
                <a:latin typeface="Times New Roman Regular" panose="02020603050405020304" charset="0"/>
                <a:cs typeface="Times New Roman Regular" panose="02020603050405020304" charset="0"/>
              </a:rPr>
              <a:t>Metric: Asking Rent (NNN $/SF Class A)</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lang="en-US" sz="2000">
                <a:latin typeface="Times New Roman Regular" panose="02020603050405020304" charset="0"/>
                <a:cs typeface="Times New Roman Regular" panose="02020603050405020304" charset="0"/>
              </a:rPr>
              <a:t>3</a:t>
            </a:r>
            <a:r>
              <a:rPr sz="2000">
                <a:latin typeface="Times New Roman Regular" panose="02020603050405020304" charset="0"/>
                <a:cs typeface="Times New Roman Regular" panose="02020603050405020304" charset="0"/>
              </a:rPr>
              <a:t>Q</a:t>
            </a:r>
            <a:r>
              <a:rPr lang="en-US" sz="2000">
                <a:latin typeface="Times New Roman Regular" panose="02020603050405020304" charset="0"/>
                <a:cs typeface="Times New Roman Regular" panose="02020603050405020304" charset="0"/>
              </a:rPr>
              <a:t>2</a:t>
            </a:r>
            <a:r>
              <a:rPr sz="2000">
                <a:latin typeface="Times New Roman Regular" panose="02020603050405020304" charset="0"/>
                <a:cs typeface="Times New Roman Regular" panose="02020603050405020304" charset="0"/>
              </a:rPr>
              <a:t>3: $41.50 | </a:t>
            </a:r>
            <a:r>
              <a:rPr lang="en-US" sz="2000">
                <a:latin typeface="Times New Roman Regular" panose="02020603050405020304" charset="0"/>
                <a:cs typeface="Times New Roman Regular" panose="02020603050405020304" charset="0"/>
              </a:rPr>
              <a:t>4</a:t>
            </a:r>
            <a:r>
              <a:rPr sz="2000">
                <a:latin typeface="Times New Roman Regular" panose="02020603050405020304" charset="0"/>
                <a:cs typeface="Times New Roman Regular" panose="02020603050405020304" charset="0"/>
              </a:rPr>
              <a:t>Q</a:t>
            </a:r>
            <a:r>
              <a:rPr lang="en-US" sz="2000">
                <a:latin typeface="Times New Roman Regular" panose="02020603050405020304" charset="0"/>
                <a:cs typeface="Times New Roman Regular" panose="02020603050405020304" charset="0"/>
              </a:rPr>
              <a:t>23</a:t>
            </a:r>
            <a:r>
              <a:rPr sz="2000">
                <a:latin typeface="Times New Roman Regular" panose="02020603050405020304" charset="0"/>
                <a:cs typeface="Times New Roman Regular" panose="02020603050405020304" charset="0"/>
              </a:rPr>
              <a:t>: $36.25 | Variance: –$5.25 (–12.7%)</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sz="2000">
                <a:latin typeface="Times New Roman Regular" panose="02020603050405020304" charset="0"/>
                <a:cs typeface="Times New Roman Regular" panose="02020603050405020304" charset="0"/>
              </a:rPr>
              <a:t>Vacant space rose by +602,559 SF in the same period</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sz="2000">
                <a:latin typeface="Times New Roman Regular" panose="02020603050405020304" charset="0"/>
                <a:cs typeface="Times New Roman Regular" panose="02020603050405020304" charset="0"/>
              </a:rPr>
              <a:t> </a:t>
            </a:r>
            <a:r>
              <a:rPr lang="en-US" sz="2000">
                <a:latin typeface="Times New Roman Regular" panose="02020603050405020304" charset="0"/>
                <a:cs typeface="Times New Roman Regular" panose="02020603050405020304" charset="0"/>
              </a:rPr>
              <a:t>Factors</a:t>
            </a:r>
            <a:r>
              <a:rPr sz="2000">
                <a:latin typeface="Times New Roman Regular" panose="02020603050405020304" charset="0"/>
                <a:cs typeface="Times New Roman Regular" panose="02020603050405020304" charset="0"/>
              </a:rPr>
              <a:t>: Tenant move-outs, sublease supply, landlord concessions</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sz="2000">
                <a:latin typeface="Times New Roman Regular" panose="02020603050405020304" charset="0"/>
                <a:cs typeface="Times New Roman Regular" panose="02020603050405020304" charset="0"/>
              </a:rPr>
              <a:t>Inference: Decrease demand in historically </a:t>
            </a:r>
            <a:r>
              <a:rPr lang="en-US" sz="2000">
                <a:latin typeface="Times New Roman Regular" panose="02020603050405020304" charset="0"/>
                <a:cs typeface="Times New Roman Regular" panose="02020603050405020304" charset="0"/>
              </a:rPr>
              <a:t>over flowing </a:t>
            </a:r>
            <a:r>
              <a:rPr sz="2000">
                <a:latin typeface="Times New Roman Regular" panose="02020603050405020304" charset="0"/>
                <a:cs typeface="Times New Roman Regular" panose="02020603050405020304" charset="0"/>
              </a:rPr>
              <a:t>rent </a:t>
            </a:r>
            <a:r>
              <a:rPr lang="en-US" sz="2000">
                <a:latin typeface="Times New Roman Regular" panose="02020603050405020304" charset="0"/>
                <a:cs typeface="Times New Roman Regular" panose="02020603050405020304" charset="0"/>
              </a:rPr>
              <a:t>in </a:t>
            </a:r>
            <a:r>
              <a:rPr sz="2000">
                <a:latin typeface="Times New Roman Regular" panose="02020603050405020304" charset="0"/>
                <a:cs typeface="Times New Roman Regular" panose="02020603050405020304" charset="0"/>
              </a:rPr>
              <a:t>submarket</a:t>
            </a:r>
            <a:endParaRPr sz="2000">
              <a:latin typeface="Times New Roman Regular" panose="02020603050405020304" charset="0"/>
              <a:cs typeface="Times New Roman Regular"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2800">
                <a:latin typeface="Times New Roman Regular" panose="02020603050405020304" charset="0"/>
                <a:cs typeface="Times New Roman Regular" panose="02020603050405020304" charset="0"/>
              </a:rPr>
              <a:t>Standout Positive Trend – Tri-Cities</a:t>
            </a:r>
            <a:endParaRPr sz="28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600200"/>
            <a:ext cx="8523605" cy="5080000"/>
          </a:xfrm>
        </p:spPr>
        <p:txBody>
          <a:bodyPr/>
          <a:lstStyle/>
          <a:p>
            <a:pPr>
              <a:buFont typeface="Wingdings" panose="05000000000000000000" charset="0"/>
              <a:buChar char=""/>
            </a:pPr>
            <a:r>
              <a:rPr sz="2000">
                <a:latin typeface="Times New Roman Regular" panose="02020603050405020304" charset="0"/>
                <a:cs typeface="Times New Roman Regular" panose="02020603050405020304" charset="0"/>
              </a:rPr>
              <a:t>Metric: Net Absorption (SF)</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lang="en-US" sz="2000">
                <a:latin typeface="Times New Roman Regular" panose="02020603050405020304" charset="0"/>
                <a:cs typeface="Times New Roman Regular" panose="02020603050405020304" charset="0"/>
              </a:rPr>
              <a:t>3</a:t>
            </a:r>
            <a:r>
              <a:rPr sz="2000">
                <a:latin typeface="Times New Roman Regular" panose="02020603050405020304" charset="0"/>
                <a:cs typeface="Times New Roman Regular" panose="02020603050405020304" charset="0"/>
              </a:rPr>
              <a:t>Q</a:t>
            </a:r>
            <a:r>
              <a:rPr lang="en-US" sz="2000">
                <a:latin typeface="Times New Roman Regular" panose="02020603050405020304" charset="0"/>
                <a:cs typeface="Times New Roman Regular" panose="02020603050405020304" charset="0"/>
              </a:rPr>
              <a:t>2</a:t>
            </a:r>
            <a:r>
              <a:rPr sz="2000">
                <a:latin typeface="Times New Roman Regular" panose="02020603050405020304" charset="0"/>
                <a:cs typeface="Times New Roman Regular" panose="02020603050405020304" charset="0"/>
              </a:rPr>
              <a:t>3: 489,301 | </a:t>
            </a:r>
            <a:r>
              <a:rPr lang="en-US" sz="2000">
                <a:latin typeface="Times New Roman Regular" panose="02020603050405020304" charset="0"/>
                <a:cs typeface="Times New Roman Regular" panose="02020603050405020304" charset="0"/>
              </a:rPr>
              <a:t>4</a:t>
            </a:r>
            <a:r>
              <a:rPr sz="2000">
                <a:latin typeface="Times New Roman Regular" panose="02020603050405020304" charset="0"/>
                <a:cs typeface="Times New Roman Regular" panose="02020603050405020304" charset="0"/>
              </a:rPr>
              <a:t>Q</a:t>
            </a:r>
            <a:r>
              <a:rPr lang="en-US" sz="2000">
                <a:latin typeface="Times New Roman Regular" panose="02020603050405020304" charset="0"/>
                <a:cs typeface="Times New Roman Regular" panose="02020603050405020304" charset="0"/>
              </a:rPr>
              <a:t>23</a:t>
            </a:r>
            <a:r>
              <a:rPr sz="2000">
                <a:latin typeface="Times New Roman Regular" panose="02020603050405020304" charset="0"/>
                <a:cs typeface="Times New Roman Regular" panose="02020603050405020304" charset="0"/>
              </a:rPr>
              <a:t>: 268,209 | Still positive</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sz="2000">
                <a:latin typeface="Times New Roman Regular" panose="02020603050405020304" charset="0"/>
                <a:cs typeface="Times New Roman Regular" panose="02020603050405020304" charset="0"/>
              </a:rPr>
              <a:t> Vacancy rose slightly: 21.9% → 22.7%</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lang="en-US" sz="2000">
                <a:latin typeface="Times New Roman Regular" panose="02020603050405020304" charset="0"/>
                <a:cs typeface="Times New Roman Regular" panose="02020603050405020304" charset="0"/>
              </a:rPr>
              <a:t>Factors</a:t>
            </a:r>
            <a:r>
              <a:rPr sz="2000">
                <a:latin typeface="Times New Roman Regular" panose="02020603050405020304" charset="0"/>
                <a:cs typeface="Times New Roman Regular" panose="02020603050405020304" charset="0"/>
              </a:rPr>
              <a:t>: More affordable rents, diversified tenant mix</a:t>
            </a:r>
            <a:endParaRPr sz="2000">
              <a:latin typeface="Times New Roman Regular" panose="02020603050405020304" charset="0"/>
              <a:cs typeface="Times New Roman Regular" panose="02020603050405020304" charset="0"/>
            </a:endParaRPr>
          </a:p>
          <a:p>
            <a:pPr marL="0" indent="0">
              <a:buFont typeface="Wingdings" panose="05000000000000000000" charset="0"/>
              <a:buNone/>
            </a:pPr>
            <a:endParaRPr sz="2000">
              <a:latin typeface="Times New Roman Regular" panose="02020603050405020304" charset="0"/>
              <a:cs typeface="Times New Roman Regular" panose="02020603050405020304" charset="0"/>
            </a:endParaRPr>
          </a:p>
          <a:p>
            <a:pPr>
              <a:buFont typeface="Wingdings" panose="05000000000000000000" charset="0"/>
              <a:buChar char=""/>
            </a:pPr>
            <a:r>
              <a:rPr sz="2000">
                <a:latin typeface="Times New Roman Regular" panose="02020603050405020304" charset="0"/>
                <a:cs typeface="Times New Roman Regular" panose="02020603050405020304" charset="0"/>
              </a:rPr>
              <a:t> Implication: Elastic demand compared to other submarkets</a:t>
            </a:r>
            <a:endParaRPr sz="2000">
              <a:latin typeface="Times New Roman Regular" panose="02020603050405020304" charset="0"/>
              <a:cs typeface="Times New Roman Regular"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graphicFrame>
        <p:nvGraphicFramePr>
          <p:cNvPr id="4" name="Content Placeholder 3"/>
          <p:cNvGraphicFramePr/>
          <p:nvPr>
            <p:ph idx="1"/>
          </p:nvPr>
        </p:nvGraphicFramePr>
        <p:xfrm>
          <a:off x="250190" y="200660"/>
          <a:ext cx="4243705" cy="249618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Chart 4"/>
          <p:cNvGraphicFramePr/>
          <p:nvPr/>
        </p:nvGraphicFramePr>
        <p:xfrm>
          <a:off x="628650" y="3497580"/>
          <a:ext cx="4244340" cy="27330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nvGraphicFramePr>
        <p:xfrm>
          <a:off x="4664075" y="3495040"/>
          <a:ext cx="4316730" cy="27355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p:cNvGraphicFramePr/>
          <p:nvPr/>
        </p:nvGraphicFramePr>
        <p:xfrm>
          <a:off x="4398010" y="308610"/>
          <a:ext cx="4849495" cy="238887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a:xfrm>
            <a:off x="457200" y="274955"/>
            <a:ext cx="8229600" cy="688975"/>
          </a:xfrm>
        </p:spPr>
        <p:txBody>
          <a:bodyPr/>
          <a:lstStyle/>
          <a:p>
            <a:r>
              <a:rPr sz="2000">
                <a:latin typeface="Times New Roman Regular" panose="02020603050405020304" charset="0"/>
                <a:cs typeface="Times New Roman Regular" panose="02020603050405020304" charset="0"/>
              </a:rPr>
              <a:t>Overall Vacancy % (Class A) – Q3 vs Q4</a:t>
            </a:r>
            <a:br>
              <a:rPr sz="2000">
                <a:latin typeface="Times New Roman Regular" panose="02020603050405020304" charset="0"/>
                <a:cs typeface="Times New Roman Regular" panose="02020603050405020304" charset="0"/>
              </a:rPr>
            </a:br>
            <a:r>
              <a:rPr sz="2000">
                <a:latin typeface="Times New Roman Regular" panose="02020603050405020304" charset="0"/>
                <a:cs typeface="Times New Roman Regular" panose="02020603050405020304" charset="0"/>
                <a:sym typeface="+mn-ea"/>
              </a:rPr>
              <a:t>Asking Rent (NNN $/SF Class A) – Q3 vs Q4</a:t>
            </a:r>
            <a:br>
              <a:rPr sz="2000">
                <a:latin typeface="Times New Roman Regular" panose="02020603050405020304" charset="0"/>
                <a:cs typeface="Times New Roman Regular" panose="02020603050405020304" charset="0"/>
              </a:rPr>
            </a:br>
            <a:endParaRPr sz="2000">
              <a:latin typeface="Times New Roman Regular" panose="02020603050405020304" charset="0"/>
              <a:cs typeface="Times New Roman Regular" panose="02020603050405020304" charset="0"/>
            </a:endParaRPr>
          </a:p>
        </p:txBody>
      </p:sp>
      <p:pic>
        <p:nvPicPr>
          <p:cNvPr id="4" name="Picture 3" descr="vacancy_chart.png"/>
          <p:cNvPicPr>
            <a:picLocks noChangeAspect="1"/>
          </p:cNvPicPr>
          <p:nvPr/>
        </p:nvPicPr>
        <p:blipFill>
          <a:blip r:embed="rId1"/>
          <a:stretch>
            <a:fillRect/>
          </a:stretch>
        </p:blipFill>
        <p:spPr>
          <a:xfrm>
            <a:off x="457200" y="963930"/>
            <a:ext cx="3827780" cy="1970405"/>
          </a:xfrm>
          <a:prstGeom prst="rect">
            <a:avLst/>
          </a:prstGeom>
          <a:ln>
            <a:solidFill>
              <a:schemeClr val="tx1"/>
            </a:solidFill>
          </a:ln>
        </p:spPr>
      </p:pic>
      <p:pic>
        <p:nvPicPr>
          <p:cNvPr id="7" name="Picture 6" descr="rent_chart.png"/>
          <p:cNvPicPr>
            <a:picLocks noChangeAspect="1"/>
          </p:cNvPicPr>
          <p:nvPr/>
        </p:nvPicPr>
        <p:blipFill>
          <a:blip r:embed="rId2"/>
          <a:stretch>
            <a:fillRect/>
          </a:stretch>
        </p:blipFill>
        <p:spPr>
          <a:xfrm>
            <a:off x="4760595" y="963930"/>
            <a:ext cx="3638550" cy="1970405"/>
          </a:xfrm>
          <a:prstGeom prst="rect">
            <a:avLst/>
          </a:prstGeom>
        </p:spPr>
      </p:pic>
      <p:pic>
        <p:nvPicPr>
          <p:cNvPr id="10" name="Picture 9" descr="absorption_chart.png"/>
          <p:cNvPicPr>
            <a:picLocks noChangeAspect="1"/>
          </p:cNvPicPr>
          <p:nvPr/>
        </p:nvPicPr>
        <p:blipFill>
          <a:blip r:embed="rId3"/>
          <a:stretch>
            <a:fillRect/>
          </a:stretch>
        </p:blipFill>
        <p:spPr>
          <a:xfrm>
            <a:off x="2632710" y="3350895"/>
            <a:ext cx="3994150" cy="2614295"/>
          </a:xfrm>
          <a:prstGeom prst="rect">
            <a:avLst/>
          </a:prstGeom>
        </p:spPr>
      </p:pic>
      <p:sp>
        <p:nvSpPr>
          <p:cNvPr id="13" name="Text Box 12"/>
          <p:cNvSpPr txBox="1"/>
          <p:nvPr/>
        </p:nvSpPr>
        <p:spPr>
          <a:xfrm>
            <a:off x="2286000" y="2952115"/>
            <a:ext cx="4572000" cy="210820"/>
          </a:xfrm>
          <a:prstGeom prst="rect">
            <a:avLst/>
          </a:prstGeom>
          <a:noFill/>
        </p:spPr>
        <p:txBody>
          <a:bodyPr wrap="square" rtlCol="0" anchor="t">
            <a:noAutofit/>
          </a:bodyPr>
          <a:p>
            <a:r>
              <a:rPr lang="en-US" sz="2000">
                <a:latin typeface="Times New Roman Regular" panose="02020603050405020304" charset="0"/>
                <a:cs typeface="Times New Roman Regular" panose="02020603050405020304" charset="0"/>
                <a:sym typeface="+mn-ea"/>
              </a:rPr>
              <a:t>          </a:t>
            </a:r>
            <a:r>
              <a:rPr sz="2000">
                <a:latin typeface="Times New Roman Regular" panose="02020603050405020304" charset="0"/>
                <a:cs typeface="Times New Roman Regular" panose="02020603050405020304" charset="0"/>
                <a:sym typeface="+mn-ea"/>
              </a:rPr>
              <a:t>Net Absorption (SF) – Q3 vs Q4</a:t>
            </a:r>
            <a:endParaRPr lang="en-US" sz="2000">
              <a:latin typeface="Times New Roman Regular" panose="02020603050405020304" charset="0"/>
              <a:cs typeface="Times New Roman Regular" panose="0202060305040502030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a:xfrm>
            <a:off x="457200" y="168910"/>
            <a:ext cx="8229600" cy="1249045"/>
          </a:xfrm>
        </p:spPr>
        <p:txBody>
          <a:bodyPr/>
          <a:lstStyle/>
          <a:p>
            <a:r>
              <a:rPr sz="2800">
                <a:latin typeface="Times New Roman Regular" panose="02020603050405020304" charset="0"/>
                <a:cs typeface="Times New Roman Regular" panose="02020603050405020304" charset="0"/>
              </a:rPr>
              <a:t>S</a:t>
            </a:r>
            <a:r>
              <a:rPr lang="en-US" sz="2800">
                <a:latin typeface="Times New Roman Regular" panose="02020603050405020304" charset="0"/>
                <a:cs typeface="Times New Roman Regular" panose="02020603050405020304" charset="0"/>
              </a:rPr>
              <a:t>UMMARY</a:t>
            </a:r>
            <a:r>
              <a:rPr sz="2800">
                <a:latin typeface="Times New Roman Regular" panose="02020603050405020304" charset="0"/>
                <a:cs typeface="Times New Roman Regular" panose="02020603050405020304" charset="0"/>
              </a:rPr>
              <a:t> – LA Office Market Trends</a:t>
            </a:r>
            <a:endParaRPr sz="28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294130"/>
            <a:ext cx="8229600" cy="5432425"/>
          </a:xfrm>
        </p:spPr>
        <p:txBody>
          <a:bodyPr/>
          <a:lstStyle/>
          <a:p>
            <a:pPr algn="just">
              <a:buFont typeface="Wingdings" panose="05000000000000000000" charset="0"/>
              <a:buChar char=""/>
            </a:pPr>
            <a:r>
              <a:rPr sz="2000">
                <a:latin typeface="Times New Roman Regular" panose="02020603050405020304" charset="0"/>
                <a:cs typeface="Times New Roman Regular" panose="02020603050405020304" charset="0"/>
              </a:rPr>
              <a:t>West LA: Largest negative shift</a:t>
            </a:r>
            <a:r>
              <a:rPr lang="en-US" sz="2000">
                <a:latin typeface="Times New Roman Regular" panose="02020603050405020304" charset="0"/>
                <a:cs typeface="Times New Roman Regular" panose="02020603050405020304" charset="0"/>
              </a:rPr>
              <a:t>/displacement</a:t>
            </a:r>
            <a:r>
              <a:rPr sz="2000">
                <a:latin typeface="Times New Roman Regular" panose="02020603050405020304" charset="0"/>
                <a:cs typeface="Times New Roman Regular" panose="02020603050405020304" charset="0"/>
              </a:rPr>
              <a:t>, rents declined sharply and vacancy rose</a:t>
            </a:r>
            <a:endParaRPr sz="2000">
              <a:latin typeface="Times New Roman Regular" panose="02020603050405020304" charset="0"/>
              <a:cs typeface="Times New Roman Regular" panose="02020603050405020304" charset="0"/>
            </a:endParaRPr>
          </a:p>
          <a:p>
            <a:pPr algn="just">
              <a:buFont typeface="Wingdings" panose="05000000000000000000" charset="0"/>
              <a:buChar char=""/>
            </a:pPr>
            <a:endParaRPr sz="2000">
              <a:latin typeface="Times New Roman Regular" panose="02020603050405020304" charset="0"/>
              <a:cs typeface="Times New Roman Regular" panose="02020603050405020304" charset="0"/>
            </a:endParaRPr>
          </a:p>
          <a:p>
            <a:pPr algn="just">
              <a:buFont typeface="Wingdings" panose="05000000000000000000" charset="0"/>
              <a:buChar char=""/>
            </a:pPr>
            <a:r>
              <a:rPr sz="2000">
                <a:latin typeface="Times New Roman Regular" panose="02020603050405020304" charset="0"/>
                <a:cs typeface="Times New Roman Regular" panose="02020603050405020304" charset="0"/>
              </a:rPr>
              <a:t>Tri-Cities: Incontestable comparative strength with current absorption</a:t>
            </a:r>
            <a:r>
              <a:rPr lang="en-US" sz="2000">
                <a:latin typeface="Times New Roman Regular" panose="02020603050405020304" charset="0"/>
                <a:cs typeface="Times New Roman Regular" panose="02020603050405020304" charset="0"/>
              </a:rPr>
              <a:t> and social process</a:t>
            </a:r>
            <a:endParaRPr sz="2000">
              <a:latin typeface="Times New Roman Regular" panose="02020603050405020304" charset="0"/>
              <a:cs typeface="Times New Roman Regular" panose="02020603050405020304" charset="0"/>
            </a:endParaRPr>
          </a:p>
          <a:p>
            <a:pPr marL="0" indent="0" algn="just">
              <a:buFont typeface="Wingdings" panose="05000000000000000000" charset="0"/>
              <a:buNone/>
            </a:pPr>
            <a:endParaRPr sz="2000">
              <a:latin typeface="Times New Roman Regular" panose="02020603050405020304" charset="0"/>
              <a:cs typeface="Times New Roman Regular" panose="02020603050405020304" charset="0"/>
            </a:endParaRPr>
          </a:p>
          <a:p>
            <a:pPr algn="just">
              <a:buFont typeface="Wingdings" panose="05000000000000000000" charset="0"/>
              <a:buChar char=""/>
            </a:pPr>
            <a:r>
              <a:rPr sz="2000">
                <a:latin typeface="Times New Roman Regular" panose="02020603050405020304" charset="0"/>
                <a:cs typeface="Times New Roman Regular" panose="02020603050405020304" charset="0"/>
              </a:rPr>
              <a:t>Market Prospect</a:t>
            </a:r>
            <a:r>
              <a:rPr lang="en-US" sz="2000">
                <a:latin typeface="Times New Roman Regular" panose="02020603050405020304" charset="0"/>
                <a:cs typeface="Times New Roman Regular" panose="02020603050405020304" charset="0"/>
              </a:rPr>
              <a:t>ive</a:t>
            </a:r>
            <a:r>
              <a:rPr sz="2000">
                <a:latin typeface="Times New Roman Regular" panose="02020603050405020304" charset="0"/>
                <a:cs typeface="Times New Roman Regular" panose="02020603050405020304" charset="0"/>
              </a:rPr>
              <a:t>: Submarkets diverging – some show elasticity while others weaken</a:t>
            </a:r>
            <a:endParaRPr sz="2000">
              <a:latin typeface="Times New Roman Regular" panose="02020603050405020304" charset="0"/>
              <a:cs typeface="Times New Roman Regular" panose="02020603050405020304" charset="0"/>
            </a:endParaRPr>
          </a:p>
          <a:p>
            <a:pPr marL="0" indent="0" algn="just">
              <a:buFont typeface="Wingdings" panose="05000000000000000000" charset="0"/>
              <a:buNone/>
            </a:pPr>
            <a:endParaRPr sz="2000">
              <a:latin typeface="Times New Roman Regular" panose="02020603050405020304" charset="0"/>
              <a:cs typeface="Times New Roman Regular" panose="02020603050405020304" charset="0"/>
            </a:endParaRPr>
          </a:p>
          <a:p>
            <a:pPr algn="just">
              <a:buFont typeface="Wingdings" panose="05000000000000000000" charset="0"/>
              <a:buChar char=""/>
            </a:pPr>
            <a:r>
              <a:rPr sz="2000">
                <a:latin typeface="Times New Roman Regular" panose="02020603050405020304" charset="0"/>
                <a:cs typeface="Times New Roman Regular" panose="02020603050405020304" charset="0"/>
              </a:rPr>
              <a:t>Recommendation: Supervis</a:t>
            </a:r>
            <a:r>
              <a:rPr lang="en-US" sz="2000">
                <a:latin typeface="Times New Roman Regular" panose="02020603050405020304" charset="0"/>
                <a:cs typeface="Times New Roman Regular" panose="02020603050405020304" charset="0"/>
              </a:rPr>
              <a:t>e</a:t>
            </a:r>
            <a:r>
              <a:rPr sz="2000">
                <a:latin typeface="Times New Roman Regular" panose="02020603050405020304" charset="0"/>
                <a:cs typeface="Times New Roman Regular" panose="02020603050405020304" charset="0"/>
              </a:rPr>
              <a:t> rent trends in West LA; highlight constancy</a:t>
            </a:r>
            <a:r>
              <a:rPr lang="en-US" sz="2000">
                <a:latin typeface="Times New Roman Regular" panose="02020603050405020304" charset="0"/>
                <a:cs typeface="Times New Roman Regular" panose="02020603050405020304" charset="0"/>
              </a:rPr>
              <a:t> and strength</a:t>
            </a:r>
            <a:r>
              <a:rPr sz="2000">
                <a:latin typeface="Times New Roman Regular" panose="02020603050405020304" charset="0"/>
                <a:cs typeface="Times New Roman Regular" panose="02020603050405020304" charset="0"/>
              </a:rPr>
              <a:t> in Tri-Cities</a:t>
            </a:r>
            <a:endParaRPr sz="2000">
              <a:latin typeface="Times New Roman Regular" panose="02020603050405020304" charset="0"/>
              <a:cs typeface="Times New Roman Regular" panose="02020603050405020304"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4073</Words>
  <Application>WPS Writer</Application>
  <PresentationFormat>On-screen Show (4:3)</PresentationFormat>
  <Paragraphs>110</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Arial</vt:lpstr>
      <vt:lpstr>Calibri</vt:lpstr>
      <vt:lpstr>Helvetica Neue</vt:lpstr>
      <vt:lpstr>Microsoft YaHei</vt:lpstr>
      <vt:lpstr>汉仪旗黑</vt:lpstr>
      <vt:lpstr>Arial Unicode MS</vt:lpstr>
      <vt:lpstr>汉仪书宋二KW</vt:lpstr>
      <vt:lpstr>Times New Roman Regular</vt:lpstr>
      <vt:lpstr>Wingdings</vt:lpstr>
      <vt:lpstr>Times New Roman Bold</vt:lpstr>
      <vt:lpstr>Times New Roman</vt:lpstr>
      <vt:lpstr>Aptos Narrow</vt:lpstr>
      <vt:lpstr>Default Design</vt:lpstr>
      <vt:lpstr>Market Metric Presentation – LA Office Trends Q3 vs Q4</vt:lpstr>
      <vt:lpstr>Standout Negative Trend – West LA</vt:lpstr>
      <vt:lpstr>PowerPoint 演示文稿</vt:lpstr>
      <vt:lpstr>Key Market Metrics</vt:lpstr>
      <vt:lpstr>PowerPoint 演示文稿</vt:lpstr>
      <vt:lpstr>Key Market Metrics</vt:lpstr>
      <vt:lpstr>PowerPoint 演示文稿</vt:lpstr>
      <vt:lpstr>Key Market Metrics</vt:lpstr>
      <vt:lpstr>Standout Negative Trend – West LA</vt:lpstr>
      <vt:lpstr>Standout Positive Trend – Tri-Cities</vt:lpstr>
      <vt:lpstr>Standout Positive Trend – Tri-Cities</vt:lpstr>
      <vt:lpstr>Overall Vacancy % (Class A) – Q3 vs Q4</vt:lpstr>
      <vt:lpstr>SUMMARY – LA Office Market Trends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WPS_1697466342</cp:lastModifiedBy>
  <cp:revision>42</cp:revision>
  <dcterms:created xsi:type="dcterms:W3CDTF">2025-10-01T23:01:15Z</dcterms:created>
  <dcterms:modified xsi:type="dcterms:W3CDTF">2025-10-01T23:01:15Z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6666B514C8DEF01DBAB2DD68DC57F8B8_43</vt:lpwstr>
  </property>
  <property fmtid="{D5CDD505-2E9C-101B-9397-08002B2CF9AE}" pid="3" name="KSOProductBuildVer">
    <vt:lpwstr>1033-12.1.21937.21937</vt:lpwstr>
  </property>
</Properties>
</file>